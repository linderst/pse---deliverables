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3" r:id="rId5"/>
    <p:sldId id="264" r:id="rId6"/>
    <p:sldId id="265" r:id="rId7"/>
    <p:sldId id="260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7A2DEC-06BF-C345-9CDF-BD1EDE78F5ED}" v="59" dt="2026-04-01T09:45:46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/>
    <p:restoredTop sz="94660"/>
  </p:normalViewPr>
  <p:slideViewPr>
    <p:cSldViewPr snapToGrid="0">
      <p:cViewPr varScale="1">
        <p:scale>
          <a:sx n="50" d="100"/>
          <a:sy n="50" d="100"/>
        </p:scale>
        <p:origin x="184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r, Stefan (STUDENTS)" userId="2e198d91-a60a-4995-9d5b-5a3f4e57e849" providerId="ADAL" clId="{508DE8DC-8D56-5BAE-AADF-C42834835919}"/>
    <pc:docChg chg="delSld">
      <pc:chgData name="Linder, Stefan (STUDENTS)" userId="2e198d91-a60a-4995-9d5b-5a3f4e57e849" providerId="ADAL" clId="{508DE8DC-8D56-5BAE-AADF-C42834835919}" dt="2026-04-22T21:45:23.793" v="1" actId="2696"/>
      <pc:docMkLst>
        <pc:docMk/>
      </pc:docMkLst>
      <pc:sldChg chg="del">
        <pc:chgData name="Linder, Stefan (STUDENTS)" userId="2e198d91-a60a-4995-9d5b-5a3f4e57e849" providerId="ADAL" clId="{508DE8DC-8D56-5BAE-AADF-C42834835919}" dt="2026-04-22T21:45:22.014" v="0" actId="2696"/>
        <pc:sldMkLst>
          <pc:docMk/>
          <pc:sldMk cId="2901608010" sldId="266"/>
        </pc:sldMkLst>
      </pc:sldChg>
      <pc:sldChg chg="del">
        <pc:chgData name="Linder, Stefan (STUDENTS)" userId="2e198d91-a60a-4995-9d5b-5a3f4e57e849" providerId="ADAL" clId="{508DE8DC-8D56-5BAE-AADF-C42834835919}" dt="2026-04-22T21:45:23.793" v="1" actId="2696"/>
        <pc:sldMkLst>
          <pc:docMk/>
          <pc:sldMk cId="3571699739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B9CDE-9F41-B938-6C3D-A3CD2B831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A7A64B-D4D3-D3CE-179C-29684185C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8F9136-5CA0-FA8F-9470-F02C7B91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D52213-88D1-5879-C01A-3028FC17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5FC260-69CE-37A9-F2F9-403310B2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729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23066-ABB8-6DD8-7F28-35BD6BD1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719A41-817C-2DC9-818E-517208AB9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B9E317-AD9F-E801-6BF1-4D5D7322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9AE56C-B684-D3AA-A62C-665A71BE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ACFAFB-85C5-B02C-BAAB-64B97E3F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42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A31DA-9B96-7B53-3EFE-ABC15618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0812B9-5AC7-BA9E-3C8A-1BEDC6824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EFD0CB-A8F0-E4CF-36DB-D2B035D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E06A2-B804-B228-01D4-CB6AA1B1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987D76-4AE5-0110-BBE3-5A2F3C58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190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78551-C023-E476-B60F-41C7D1B8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02B9E8-AE25-0B8D-4D94-D8B7D4603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56C4D2-1DDD-4CDF-F847-056BE95EB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8FA206-9845-A2A0-AF83-C1139B1E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077C9E-A056-F87B-4450-8E75942BA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7D5E71-BC14-CDE5-6EAD-420B90E6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99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A9D2C2-AA34-E4E1-5C0D-5F931099F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C72FD8-B318-9E00-FF39-B06DEFA30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547F9C-ACA2-A595-5B6F-9B402F3A1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4A5464-1472-63B5-6315-41297175A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A376D6-1968-867C-EA2A-074C1FADF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35911F6-801E-9751-9E38-A9F4686B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D50926-1179-BF05-4D70-3CDC128A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DC090DA-3945-AFCC-FB88-3455B5DA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70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8EF90A-DE98-B3B6-D9F6-643FCEE1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2B532C-8F2F-1593-2D7B-BECF176C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D9C603-9824-04DE-5B41-F8ACFBFC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1744A9-F8FF-84D7-51ED-594A1357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6526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333F5B5-0124-49D0-8DED-FA262495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20CF118-6170-BC11-D12C-7AD9C402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95888F-8990-C3F2-1AFD-2308221A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26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9C820-B73E-F9AB-9E35-DE47B2DA5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6C54AF-8853-6E8D-5A9A-4C7748B35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264B98-E2E0-7932-AE31-7853DCDCC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7A485A-70F2-42FA-7E79-8AC672A5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73DFCA-CA26-12CD-33D9-7A6E0030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534EA7-F8B0-AE81-A73B-E464ACD2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83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B2EFD0-B3DB-0304-ECF8-64D20C90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ED62CCC-4214-A697-05A0-F780649F8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294AD7-4417-35F5-4C23-AB6CBA5A8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C36F53-58B8-C421-E137-217660C2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B80A97-82D0-2AC7-1FC1-E1106F5C9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42D125-02A5-2E6A-C63B-B7B9E298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84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72FA00-D0CF-FFE6-12C4-8DB0121D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9233FB-900E-AFEB-6FE7-322DA707E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52F4BA-5835-E85E-2581-ACB9C1BE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FA7C11-3672-00DE-843C-749B6C61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03BB68-9754-2131-EF81-3F99984F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4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28DEF05-B5CA-4A85-775C-A9054E9BF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BEFE85-293D-2F54-A765-CAD5E0646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B8D8DF-19AD-B07E-7A14-24281BE3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D64AB0-8305-1DCD-C333-814DF696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B7AB88-6E50-A0DD-C6CC-7A610A1B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419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DBD803-CAC2-2C4D-0050-EA0DCCB4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129D71-688F-B1DA-DC3C-B70A868EA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52BFE6-A9D5-C330-2F9A-D734E09B7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13F99-CCB2-934F-B22C-2198507C562D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6F3BC8-A42A-786C-4F44-C30B0F10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BC461A-0ECE-C181-89DF-3FE8B60EF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54F40-89E8-6A4E-B3AD-EFDFBB2826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72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8BDC9E-1C86-8D56-82C8-3396C0E12A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 1 – </a:t>
            </a:r>
            <a:r>
              <a:rPr lang="de-DE" dirty="0" err="1"/>
              <a:t>Medcode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7B5DB24-3E98-BB11-0094-499C39CB4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224" y="5503970"/>
            <a:ext cx="9144000" cy="463334"/>
          </a:xfrm>
        </p:spPr>
        <p:txBody>
          <a:bodyPr/>
          <a:lstStyle/>
          <a:p>
            <a:r>
              <a:rPr lang="de-DE" dirty="0"/>
              <a:t>Stefan Linder – Chief </a:t>
            </a:r>
            <a:r>
              <a:rPr lang="de-DE" dirty="0" err="1"/>
              <a:t>Deliverable</a:t>
            </a:r>
            <a:r>
              <a:rPr lang="de-DE" dirty="0"/>
              <a:t> Officer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11C81AD-5924-2050-7447-3C6BA4AE52D2}"/>
              </a:ext>
            </a:extLst>
          </p:cNvPr>
          <p:cNvSpPr txBox="1"/>
          <p:nvPr/>
        </p:nvSpPr>
        <p:spPr>
          <a:xfrm>
            <a:off x="4843093" y="3806456"/>
            <a:ext cx="2548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ICD 10 – KI-Suche</a:t>
            </a:r>
          </a:p>
        </p:txBody>
      </p:sp>
    </p:spTree>
    <p:extLst>
      <p:ext uri="{BB962C8B-B14F-4D97-AF65-F5344CB8AC3E}">
        <p14:creationId xmlns:p14="http://schemas.microsoft.com/office/powerpoint/2010/main" val="86369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637CDB-3AC1-DEC9-FD10-69811391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A525826F-BAF6-7587-8E97-A3F28721A5F0}"/>
              </a:ext>
            </a:extLst>
          </p:cNvPr>
          <p:cNvGrpSpPr/>
          <p:nvPr/>
        </p:nvGrpSpPr>
        <p:grpSpPr>
          <a:xfrm>
            <a:off x="838200" y="2600135"/>
            <a:ext cx="4690939" cy="1850065"/>
            <a:chOff x="676731" y="2290853"/>
            <a:chExt cx="4690939" cy="1850065"/>
          </a:xfrm>
        </p:grpSpPr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874EEA19-7063-935F-5EA9-5E1E9A21BE1A}"/>
                </a:ext>
              </a:extLst>
            </p:cNvPr>
            <p:cNvSpPr txBox="1"/>
            <p:nvPr/>
          </p:nvSpPr>
          <p:spPr>
            <a:xfrm>
              <a:off x="838200" y="2431055"/>
              <a:ext cx="4529470" cy="16619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400" dirty="0"/>
                <a:t>Ziel</a:t>
              </a:r>
              <a:endParaRPr lang="de-DE" sz="20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000" dirty="0"/>
                <a:t>Web – App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000" dirty="0"/>
                <a:t>ICD – 10 – Diagnosen in verständliche Sprache übersetzen</a:t>
              </a:r>
            </a:p>
            <a:p>
              <a:endParaRPr lang="de-DE" dirty="0"/>
            </a:p>
          </p:txBody>
        </p:sp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1EC2E33B-5106-916B-4717-F7D544E7D530}"/>
                </a:ext>
              </a:extLst>
            </p:cNvPr>
            <p:cNvSpPr/>
            <p:nvPr/>
          </p:nvSpPr>
          <p:spPr>
            <a:xfrm>
              <a:off x="676731" y="2290853"/>
              <a:ext cx="4529470" cy="18500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7AF75B6-2CAF-7415-E1E1-98789AE50AFD}"/>
              </a:ext>
            </a:extLst>
          </p:cNvPr>
          <p:cNvGrpSpPr/>
          <p:nvPr/>
        </p:nvGrpSpPr>
        <p:grpSpPr>
          <a:xfrm>
            <a:off x="6341952" y="2604988"/>
            <a:ext cx="4850379" cy="1850065"/>
            <a:chOff x="5784218" y="2290853"/>
            <a:chExt cx="4850379" cy="1850065"/>
          </a:xfrm>
        </p:grpSpPr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0AAC6309-33A3-9B0F-4F00-5C7A82C09303}"/>
                </a:ext>
              </a:extLst>
            </p:cNvPr>
            <p:cNvSpPr txBox="1"/>
            <p:nvPr/>
          </p:nvSpPr>
          <p:spPr>
            <a:xfrm>
              <a:off x="5945687" y="2431055"/>
              <a:ext cx="4688910" cy="138499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400" dirty="0"/>
                <a:t>Zielgruppe</a:t>
              </a:r>
              <a:endParaRPr lang="de-DE" sz="28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000" dirty="0"/>
                <a:t>PatientInnen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000" dirty="0"/>
                <a:t>Kein Fachpersonal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000" dirty="0"/>
                <a:t>Kein Arzt – Tool</a:t>
              </a:r>
            </a:p>
          </p:txBody>
        </p:sp>
        <p:sp>
          <p:nvSpPr>
            <p:cNvPr id="11" name="Abgerundetes Rechteck 10">
              <a:extLst>
                <a:ext uri="{FF2B5EF4-FFF2-40B4-BE49-F238E27FC236}">
                  <a16:creationId xmlns:a16="http://schemas.microsoft.com/office/drawing/2014/main" id="{76374C55-5DCB-F4C3-C13E-E2B8244CC99B}"/>
                </a:ext>
              </a:extLst>
            </p:cNvPr>
            <p:cNvSpPr/>
            <p:nvPr/>
          </p:nvSpPr>
          <p:spPr>
            <a:xfrm>
              <a:off x="5784218" y="2290853"/>
              <a:ext cx="4529470" cy="18500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5" name="Grafik 14" descr="Gruppe von Männern Silhouette">
            <a:extLst>
              <a:ext uri="{FF2B5EF4-FFF2-40B4-BE49-F238E27FC236}">
                <a16:creationId xmlns:a16="http://schemas.microsoft.com/office/drawing/2014/main" id="{FCA3A992-3FE0-C730-A8BD-3ECD5188B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8106" y="2740337"/>
            <a:ext cx="914400" cy="914400"/>
          </a:xfrm>
          <a:prstGeom prst="rect">
            <a:avLst/>
          </a:prstGeom>
        </p:spPr>
      </p:pic>
      <p:pic>
        <p:nvPicPr>
          <p:cNvPr id="17" name="Grafik 16" descr="Volltreffer Silhouette">
            <a:extLst>
              <a:ext uri="{FF2B5EF4-FFF2-40B4-BE49-F238E27FC236}">
                <a16:creationId xmlns:a16="http://schemas.microsoft.com/office/drawing/2014/main" id="{707ED912-CF05-2F55-BB20-5726723D4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2228" y="2692467"/>
            <a:ext cx="864621" cy="86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8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662A102-C1CA-87D6-654F-2192743B6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07" y="1971284"/>
            <a:ext cx="5508628" cy="3071313"/>
          </a:xfrm>
          <a:prstGeom prst="rect">
            <a:avLst/>
          </a:prstGeom>
          <a:effectLst>
            <a:softEdge rad="0"/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8740DDE-5569-E740-80BC-26FBDB98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091" y="1971283"/>
            <a:ext cx="5077386" cy="307131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5697716-AA61-C0AC-D703-2EC943F24C2A}"/>
              </a:ext>
            </a:extLst>
          </p:cNvPr>
          <p:cNvSpPr/>
          <p:nvPr/>
        </p:nvSpPr>
        <p:spPr>
          <a:xfrm>
            <a:off x="6758030" y="3840064"/>
            <a:ext cx="3678620" cy="10300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EF6FD1-978D-8D69-DB18-827B5787EF6B}"/>
              </a:ext>
            </a:extLst>
          </p:cNvPr>
          <p:cNvSpPr txBox="1"/>
          <p:nvPr/>
        </p:nvSpPr>
        <p:spPr>
          <a:xfrm>
            <a:off x="2862750" y="5323193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Alt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0C7866-2693-DCD0-325F-6B8D0ACFE6C4}"/>
              </a:ext>
            </a:extLst>
          </p:cNvPr>
          <p:cNvSpPr txBox="1"/>
          <p:nvPr/>
        </p:nvSpPr>
        <p:spPr>
          <a:xfrm>
            <a:off x="8415860" y="5323192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Neu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2222657-3B18-5D8B-CC51-036E6F22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Einführung</a:t>
            </a:r>
          </a:p>
        </p:txBody>
      </p:sp>
    </p:spTree>
    <p:extLst>
      <p:ext uri="{BB962C8B-B14F-4D97-AF65-F5344CB8AC3E}">
        <p14:creationId xmlns:p14="http://schemas.microsoft.com/office/powerpoint/2010/main" val="165027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2017-CEDC-3FA4-CA45-C003F37C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D7B77C2A-A42C-EA9E-E800-77F3F0356EA8}"/>
              </a:ext>
            </a:extLst>
          </p:cNvPr>
          <p:cNvSpPr/>
          <p:nvPr/>
        </p:nvSpPr>
        <p:spPr>
          <a:xfrm>
            <a:off x="939361" y="1587584"/>
            <a:ext cx="3258207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67BDECE-B203-2AC8-4D44-70BABA5606C6}"/>
              </a:ext>
            </a:extLst>
          </p:cNvPr>
          <p:cNvSpPr/>
          <p:nvPr/>
        </p:nvSpPr>
        <p:spPr>
          <a:xfrm>
            <a:off x="939361" y="2811516"/>
            <a:ext cx="3258207" cy="1019503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7AC7512-EE1A-D928-F88D-DDA52CC5DD08}"/>
              </a:ext>
            </a:extLst>
          </p:cNvPr>
          <p:cNvSpPr txBox="1"/>
          <p:nvPr/>
        </p:nvSpPr>
        <p:spPr>
          <a:xfrm>
            <a:off x="1803062" y="1912669"/>
            <a:ext cx="1530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Direct</a:t>
            </a:r>
            <a:r>
              <a:rPr lang="de-DE" b="1" dirty="0"/>
              <a:t> Match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327B3D88-451D-991F-CAEC-C76265F8EAD3}"/>
              </a:ext>
            </a:extLst>
          </p:cNvPr>
          <p:cNvSpPr/>
          <p:nvPr/>
        </p:nvSpPr>
        <p:spPr>
          <a:xfrm>
            <a:off x="939361" y="5270416"/>
            <a:ext cx="3258207" cy="101950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2388" b="-22388"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15B3F88C-70C2-423A-A05E-45E9F4681BD4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568465" y="2607087"/>
            <a:ext cx="0" cy="204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krümmte Verbindung 23">
            <a:extLst>
              <a:ext uri="{FF2B5EF4-FFF2-40B4-BE49-F238E27FC236}">
                <a16:creationId xmlns:a16="http://schemas.microsoft.com/office/drawing/2014/main" id="{F4D30B7B-B03D-C936-DB3B-6C14BE0F1834}"/>
              </a:ext>
            </a:extLst>
          </p:cNvPr>
          <p:cNvCxnSpPr>
            <a:cxnSpLocks/>
            <a:stCxn id="14" idx="1"/>
            <a:endCxn id="7" idx="1"/>
          </p:cNvCxnSpPr>
          <p:nvPr/>
        </p:nvCxnSpPr>
        <p:spPr>
          <a:xfrm rot="10800000">
            <a:off x="939361" y="3321268"/>
            <a:ext cx="12700" cy="2458900"/>
          </a:xfrm>
          <a:prstGeom prst="curvedConnector3">
            <a:avLst>
              <a:gd name="adj1" fmla="val 37725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Abgerundetes Rechteck 45">
            <a:extLst>
              <a:ext uri="{FF2B5EF4-FFF2-40B4-BE49-F238E27FC236}">
                <a16:creationId xmlns:a16="http://schemas.microsoft.com/office/drawing/2014/main" id="{EC3ABD57-BDAD-491A-17C5-F2797BC609AD}"/>
              </a:ext>
            </a:extLst>
          </p:cNvPr>
          <p:cNvSpPr/>
          <p:nvPr/>
        </p:nvSpPr>
        <p:spPr>
          <a:xfrm>
            <a:off x="939361" y="4035448"/>
            <a:ext cx="3258207" cy="1019503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29" b="-10029"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B44B0331-814F-03D3-82FF-545B11498A21}"/>
              </a:ext>
            </a:extLst>
          </p:cNvPr>
          <p:cNvCxnSpPr>
            <a:stCxn id="7" idx="2"/>
            <a:endCxn id="46" idx="0"/>
          </p:cNvCxnSpPr>
          <p:nvPr/>
        </p:nvCxnSpPr>
        <p:spPr>
          <a:xfrm>
            <a:off x="2568465" y="3831019"/>
            <a:ext cx="0" cy="204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5691075A-BEC0-E9A7-EC91-41CE5A538A3A}"/>
              </a:ext>
            </a:extLst>
          </p:cNvPr>
          <p:cNvCxnSpPr>
            <a:stCxn id="46" idx="2"/>
            <a:endCxn id="14" idx="0"/>
          </p:cNvCxnSpPr>
          <p:nvPr/>
        </p:nvCxnSpPr>
        <p:spPr>
          <a:xfrm>
            <a:off x="2568465" y="5054951"/>
            <a:ext cx="0" cy="215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175BF42D-1439-F911-3ABF-AA695D03AC5A}"/>
              </a:ext>
            </a:extLst>
          </p:cNvPr>
          <p:cNvSpPr/>
          <p:nvPr/>
        </p:nvSpPr>
        <p:spPr>
          <a:xfrm>
            <a:off x="5826670" y="5270415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040289F8-A89E-4767-EE72-C0619E97326C}"/>
              </a:ext>
            </a:extLst>
          </p:cNvPr>
          <p:cNvSpPr txBox="1"/>
          <p:nvPr/>
        </p:nvSpPr>
        <p:spPr>
          <a:xfrm>
            <a:off x="6173588" y="5601363"/>
            <a:ext cx="1936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Ergebnis/Gemini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8C1FAC25-A3AD-C242-D05B-42E398A7264F}"/>
              </a:ext>
            </a:extLst>
          </p:cNvPr>
          <p:cNvCxnSpPr>
            <a:cxnSpLocks/>
            <a:stCxn id="14" idx="3"/>
            <a:endCxn id="59" idx="1"/>
          </p:cNvCxnSpPr>
          <p:nvPr/>
        </p:nvCxnSpPr>
        <p:spPr>
          <a:xfrm flipV="1">
            <a:off x="4197568" y="5780167"/>
            <a:ext cx="16291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7E5981BE-073E-83ED-FF55-07C3E7D2476E}"/>
              </a:ext>
            </a:extLst>
          </p:cNvPr>
          <p:cNvSpPr txBox="1"/>
          <p:nvPr/>
        </p:nvSpPr>
        <p:spPr>
          <a:xfrm>
            <a:off x="9072176" y="1698471"/>
            <a:ext cx="2102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/>
              <a:t>Neu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Meilisearch</a:t>
            </a: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2">
                    <a:lumMod val="50000"/>
                  </a:schemeClr>
                </a:solidFill>
              </a:rPr>
              <a:t>Schwellenwerte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2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105" name="Titel 104">
            <a:extLst>
              <a:ext uri="{FF2B5EF4-FFF2-40B4-BE49-F238E27FC236}">
                <a16:creationId xmlns:a16="http://schemas.microsoft.com/office/drawing/2014/main" id="{CE2BA873-B743-BC4D-7391-CD31A5B7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CDEC885-31A5-3C1C-469C-ECC550B1D9AB}"/>
              </a:ext>
            </a:extLst>
          </p:cNvPr>
          <p:cNvSpPr txBox="1"/>
          <p:nvPr/>
        </p:nvSpPr>
        <p:spPr>
          <a:xfrm rot="16200000">
            <a:off x="-469122" y="4195402"/>
            <a:ext cx="161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5 Fachbegriffe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D465B138-A735-8676-B85F-90EB9A234B09}"/>
              </a:ext>
            </a:extLst>
          </p:cNvPr>
          <p:cNvSpPr/>
          <p:nvPr/>
        </p:nvSpPr>
        <p:spPr>
          <a:xfrm>
            <a:off x="5826669" y="1586535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576F3CD-7D09-3E1A-26DA-A89CFD0A43BB}"/>
              </a:ext>
            </a:extLst>
          </p:cNvPr>
          <p:cNvSpPr txBox="1"/>
          <p:nvPr/>
        </p:nvSpPr>
        <p:spPr>
          <a:xfrm>
            <a:off x="6474420" y="1910459"/>
            <a:ext cx="122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</a:t>
            </a:r>
            <a:r>
              <a:rPr lang="de-DE" b="1" dirty="0"/>
              <a:t>Eingabe</a:t>
            </a:r>
            <a:r>
              <a:rPr lang="de-DE" dirty="0"/>
              <a:t>“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8A7DE7D2-3D14-8669-7DB7-E395096F3A2D}"/>
              </a:ext>
            </a:extLst>
          </p:cNvPr>
          <p:cNvCxnSpPr>
            <a:stCxn id="3" idx="1"/>
          </p:cNvCxnSpPr>
          <p:nvPr/>
        </p:nvCxnSpPr>
        <p:spPr>
          <a:xfrm flipH="1">
            <a:off x="4197568" y="2096287"/>
            <a:ext cx="1629101" cy="1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69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0E46F-38A1-B23B-655A-3D1F7BF2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F64185D1-7899-E8F2-9AA9-3E6CE8B024DA}"/>
              </a:ext>
            </a:extLst>
          </p:cNvPr>
          <p:cNvSpPr/>
          <p:nvPr/>
        </p:nvSpPr>
        <p:spPr>
          <a:xfrm>
            <a:off x="939361" y="1587584"/>
            <a:ext cx="3258207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F0D6EABD-569E-E2B4-0325-F80EDAADB235}"/>
              </a:ext>
            </a:extLst>
          </p:cNvPr>
          <p:cNvSpPr/>
          <p:nvPr/>
        </p:nvSpPr>
        <p:spPr>
          <a:xfrm>
            <a:off x="939361" y="2811516"/>
            <a:ext cx="3258207" cy="1019503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3C269BC-3652-08C9-6EA5-73C5B2D4B3B7}"/>
              </a:ext>
            </a:extLst>
          </p:cNvPr>
          <p:cNvSpPr txBox="1"/>
          <p:nvPr/>
        </p:nvSpPr>
        <p:spPr>
          <a:xfrm>
            <a:off x="1803062" y="1912669"/>
            <a:ext cx="1530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Direct</a:t>
            </a:r>
            <a:r>
              <a:rPr lang="de-DE" b="1" dirty="0"/>
              <a:t> Match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B29BCF64-C379-8147-43DE-A93FC9A2108C}"/>
              </a:ext>
            </a:extLst>
          </p:cNvPr>
          <p:cNvSpPr/>
          <p:nvPr/>
        </p:nvSpPr>
        <p:spPr>
          <a:xfrm>
            <a:off x="939361" y="5270416"/>
            <a:ext cx="3258207" cy="101950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2388" b="-22388"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2E5ED5F-7168-2845-3C88-6057032CFE3E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568465" y="2607087"/>
            <a:ext cx="0" cy="204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krümmte Verbindung 23">
            <a:extLst>
              <a:ext uri="{FF2B5EF4-FFF2-40B4-BE49-F238E27FC236}">
                <a16:creationId xmlns:a16="http://schemas.microsoft.com/office/drawing/2014/main" id="{911BB484-99F7-2A12-8546-C22D1A3E7847}"/>
              </a:ext>
            </a:extLst>
          </p:cNvPr>
          <p:cNvCxnSpPr>
            <a:cxnSpLocks/>
            <a:stCxn id="14" idx="1"/>
            <a:endCxn id="7" idx="1"/>
          </p:cNvCxnSpPr>
          <p:nvPr/>
        </p:nvCxnSpPr>
        <p:spPr>
          <a:xfrm rot="10800000">
            <a:off x="939361" y="3321268"/>
            <a:ext cx="12700" cy="2458900"/>
          </a:xfrm>
          <a:prstGeom prst="curvedConnector3">
            <a:avLst>
              <a:gd name="adj1" fmla="val 37725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Abgerundetes Rechteck 45">
            <a:extLst>
              <a:ext uri="{FF2B5EF4-FFF2-40B4-BE49-F238E27FC236}">
                <a16:creationId xmlns:a16="http://schemas.microsoft.com/office/drawing/2014/main" id="{79BC67CC-7E44-EB4A-2C34-FAFE27FFFDC5}"/>
              </a:ext>
            </a:extLst>
          </p:cNvPr>
          <p:cNvSpPr/>
          <p:nvPr/>
        </p:nvSpPr>
        <p:spPr>
          <a:xfrm>
            <a:off x="939361" y="4035448"/>
            <a:ext cx="3258207" cy="1019503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29" b="-10029"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84B07FD8-6652-552F-C443-1DD6F67399A0}"/>
              </a:ext>
            </a:extLst>
          </p:cNvPr>
          <p:cNvCxnSpPr>
            <a:stCxn id="7" idx="2"/>
            <a:endCxn id="46" idx="0"/>
          </p:cNvCxnSpPr>
          <p:nvPr/>
        </p:nvCxnSpPr>
        <p:spPr>
          <a:xfrm>
            <a:off x="2568465" y="3831019"/>
            <a:ext cx="0" cy="204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A4A05DD-5464-92FC-D1CC-ED28425F94E9}"/>
              </a:ext>
            </a:extLst>
          </p:cNvPr>
          <p:cNvCxnSpPr>
            <a:stCxn id="46" idx="2"/>
            <a:endCxn id="14" idx="0"/>
          </p:cNvCxnSpPr>
          <p:nvPr/>
        </p:nvCxnSpPr>
        <p:spPr>
          <a:xfrm>
            <a:off x="2568465" y="5054951"/>
            <a:ext cx="0" cy="215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87A95EC5-BA8D-71CF-3233-E3F3F3C34CB2}"/>
              </a:ext>
            </a:extLst>
          </p:cNvPr>
          <p:cNvSpPr txBox="1"/>
          <p:nvPr/>
        </p:nvSpPr>
        <p:spPr>
          <a:xfrm>
            <a:off x="5098093" y="3748567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75%</a:t>
            </a:r>
          </a:p>
        </p:txBody>
      </p:sp>
      <p:cxnSp>
        <p:nvCxnSpPr>
          <p:cNvPr id="57" name="Gerade Verbindung 56">
            <a:extLst>
              <a:ext uri="{FF2B5EF4-FFF2-40B4-BE49-F238E27FC236}">
                <a16:creationId xmlns:a16="http://schemas.microsoft.com/office/drawing/2014/main" id="{7F766C5E-69A7-3B21-CDE4-D948820706ED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939361" y="3933233"/>
            <a:ext cx="41587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AD65D308-F16C-5356-419E-A95D7554A1F3}"/>
              </a:ext>
            </a:extLst>
          </p:cNvPr>
          <p:cNvSpPr/>
          <p:nvPr/>
        </p:nvSpPr>
        <p:spPr>
          <a:xfrm>
            <a:off x="5826670" y="5270415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DCDDDB60-F33F-7D50-7F59-00BDF3DB3215}"/>
              </a:ext>
            </a:extLst>
          </p:cNvPr>
          <p:cNvSpPr txBox="1"/>
          <p:nvPr/>
        </p:nvSpPr>
        <p:spPr>
          <a:xfrm>
            <a:off x="6173588" y="5601363"/>
            <a:ext cx="1936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Ergebnis/Gemini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F3779A8D-007E-FE12-7EBC-85F292D5AF81}"/>
              </a:ext>
            </a:extLst>
          </p:cNvPr>
          <p:cNvCxnSpPr>
            <a:cxnSpLocks/>
            <a:stCxn id="14" idx="3"/>
            <a:endCxn id="59" idx="1"/>
          </p:cNvCxnSpPr>
          <p:nvPr/>
        </p:nvCxnSpPr>
        <p:spPr>
          <a:xfrm flipV="1">
            <a:off x="4197568" y="5780167"/>
            <a:ext cx="16291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CA82CD42-D36A-3E12-CC11-6FCD67FBE0C8}"/>
              </a:ext>
            </a:extLst>
          </p:cNvPr>
          <p:cNvCxnSpPr>
            <a:cxnSpLocks/>
          </p:cNvCxnSpPr>
          <p:nvPr/>
        </p:nvCxnSpPr>
        <p:spPr>
          <a:xfrm>
            <a:off x="939361" y="5162683"/>
            <a:ext cx="37439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feld 63">
            <a:extLst>
              <a:ext uri="{FF2B5EF4-FFF2-40B4-BE49-F238E27FC236}">
                <a16:creationId xmlns:a16="http://schemas.microsoft.com/office/drawing/2014/main" id="{6D0D890F-C573-93C7-9C9F-8CD5F8C463E8}"/>
              </a:ext>
            </a:extLst>
          </p:cNvPr>
          <p:cNvSpPr txBox="1"/>
          <p:nvPr/>
        </p:nvSpPr>
        <p:spPr>
          <a:xfrm>
            <a:off x="4683308" y="4983534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15% - 75%</a:t>
            </a: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334E3ECA-2C26-CFA9-DCFB-035C14891439}"/>
              </a:ext>
            </a:extLst>
          </p:cNvPr>
          <p:cNvCxnSpPr>
            <a:cxnSpLocks/>
            <a:stCxn id="46" idx="3"/>
            <a:endCxn id="70" idx="1"/>
          </p:cNvCxnSpPr>
          <p:nvPr/>
        </p:nvCxnSpPr>
        <p:spPr>
          <a:xfrm flipV="1">
            <a:off x="4197568" y="4540893"/>
            <a:ext cx="1629101" cy="4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Abgerundetes Rechteck 69">
            <a:extLst>
              <a:ext uri="{FF2B5EF4-FFF2-40B4-BE49-F238E27FC236}">
                <a16:creationId xmlns:a16="http://schemas.microsoft.com/office/drawing/2014/main" id="{3F0EEF77-29E5-33DC-2CFF-021F4075840C}"/>
              </a:ext>
            </a:extLst>
          </p:cNvPr>
          <p:cNvSpPr/>
          <p:nvPr/>
        </p:nvSpPr>
        <p:spPr>
          <a:xfrm>
            <a:off x="5826669" y="4031141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CA15F5B-1703-D23D-0DD8-2AA096680F14}"/>
              </a:ext>
            </a:extLst>
          </p:cNvPr>
          <p:cNvSpPr txBox="1"/>
          <p:nvPr/>
        </p:nvSpPr>
        <p:spPr>
          <a:xfrm>
            <a:off x="6267569" y="4356226"/>
            <a:ext cx="1601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Kein Ergebnis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E0A23AB3-D050-132C-70AF-CD9C9BFB216D}"/>
              </a:ext>
            </a:extLst>
          </p:cNvPr>
          <p:cNvSpPr txBox="1"/>
          <p:nvPr/>
        </p:nvSpPr>
        <p:spPr>
          <a:xfrm>
            <a:off x="4683308" y="418811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15%&gt;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0BF47630-871A-E43F-8FC9-C5BB65141DE5}"/>
              </a:ext>
            </a:extLst>
          </p:cNvPr>
          <p:cNvSpPr txBox="1"/>
          <p:nvPr/>
        </p:nvSpPr>
        <p:spPr>
          <a:xfrm>
            <a:off x="9072176" y="1698471"/>
            <a:ext cx="2102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b="1" dirty="0"/>
              <a:t>Neu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2">
                    <a:lumMod val="50000"/>
                  </a:schemeClr>
                </a:solidFill>
              </a:rPr>
              <a:t>Meilisearch</a:t>
            </a:r>
            <a:endParaRPr lang="de-DE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Schwellenwerte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2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105" name="Titel 104">
            <a:extLst>
              <a:ext uri="{FF2B5EF4-FFF2-40B4-BE49-F238E27FC236}">
                <a16:creationId xmlns:a16="http://schemas.microsoft.com/office/drawing/2014/main" id="{FC6B245B-A295-9230-E188-D56005AE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C1B3AAA-0ABB-8C4D-984C-00BD01FCEE8B}"/>
              </a:ext>
            </a:extLst>
          </p:cNvPr>
          <p:cNvSpPr txBox="1"/>
          <p:nvPr/>
        </p:nvSpPr>
        <p:spPr>
          <a:xfrm rot="16200000">
            <a:off x="-469122" y="4195402"/>
            <a:ext cx="161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5 Fachbegriffe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127330E1-7416-8DAC-9A9C-5BF8B9DD015A}"/>
              </a:ext>
            </a:extLst>
          </p:cNvPr>
          <p:cNvSpPr/>
          <p:nvPr/>
        </p:nvSpPr>
        <p:spPr>
          <a:xfrm>
            <a:off x="5826669" y="1586535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1FFE631-2B6E-E2C9-5F52-CDFCA3F43312}"/>
              </a:ext>
            </a:extLst>
          </p:cNvPr>
          <p:cNvSpPr txBox="1"/>
          <p:nvPr/>
        </p:nvSpPr>
        <p:spPr>
          <a:xfrm>
            <a:off x="6474420" y="1910459"/>
            <a:ext cx="122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</a:t>
            </a:r>
            <a:r>
              <a:rPr lang="de-DE" b="1" dirty="0"/>
              <a:t>Eingabe</a:t>
            </a:r>
            <a:r>
              <a:rPr lang="de-DE" dirty="0"/>
              <a:t>“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5AB6E3B-0403-177E-39A2-A597FAD62DE4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4197568" y="2096287"/>
            <a:ext cx="1629101" cy="1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334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09BB-889B-4B30-641F-777CCA63C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13EC29C8-737D-75E6-B2B9-787B3A653497}"/>
              </a:ext>
            </a:extLst>
          </p:cNvPr>
          <p:cNvSpPr/>
          <p:nvPr/>
        </p:nvSpPr>
        <p:spPr>
          <a:xfrm>
            <a:off x="939361" y="1587584"/>
            <a:ext cx="3258207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02C983C6-2EFD-AB5D-FB74-E407643E2B60}"/>
              </a:ext>
            </a:extLst>
          </p:cNvPr>
          <p:cNvSpPr/>
          <p:nvPr/>
        </p:nvSpPr>
        <p:spPr>
          <a:xfrm>
            <a:off x="939361" y="2811516"/>
            <a:ext cx="3258207" cy="1019503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2F4D5A5-95AE-BE20-F04E-65202E0BBE01}"/>
              </a:ext>
            </a:extLst>
          </p:cNvPr>
          <p:cNvSpPr txBox="1"/>
          <p:nvPr/>
        </p:nvSpPr>
        <p:spPr>
          <a:xfrm>
            <a:off x="1803062" y="1912669"/>
            <a:ext cx="1530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Direct</a:t>
            </a:r>
            <a:r>
              <a:rPr lang="de-DE" b="1" dirty="0"/>
              <a:t> Match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19D14CCE-8DE4-1BC1-D40D-346D976E151C}"/>
              </a:ext>
            </a:extLst>
          </p:cNvPr>
          <p:cNvSpPr/>
          <p:nvPr/>
        </p:nvSpPr>
        <p:spPr>
          <a:xfrm>
            <a:off x="939361" y="5270416"/>
            <a:ext cx="3258207" cy="101950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2388" b="-22388"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7F5E380-4957-FBBF-9D75-AA8D4CB355FA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568465" y="2607087"/>
            <a:ext cx="0" cy="204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krümmte Verbindung 23">
            <a:extLst>
              <a:ext uri="{FF2B5EF4-FFF2-40B4-BE49-F238E27FC236}">
                <a16:creationId xmlns:a16="http://schemas.microsoft.com/office/drawing/2014/main" id="{BD8F4848-C804-D39A-8C48-EF5D420C22FA}"/>
              </a:ext>
            </a:extLst>
          </p:cNvPr>
          <p:cNvCxnSpPr>
            <a:cxnSpLocks/>
            <a:stCxn id="14" idx="1"/>
            <a:endCxn id="7" idx="1"/>
          </p:cNvCxnSpPr>
          <p:nvPr/>
        </p:nvCxnSpPr>
        <p:spPr>
          <a:xfrm rot="10800000">
            <a:off x="939361" y="3321268"/>
            <a:ext cx="12700" cy="2458900"/>
          </a:xfrm>
          <a:prstGeom prst="curvedConnector3">
            <a:avLst>
              <a:gd name="adj1" fmla="val 37725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Abgerundetes Rechteck 45">
            <a:extLst>
              <a:ext uri="{FF2B5EF4-FFF2-40B4-BE49-F238E27FC236}">
                <a16:creationId xmlns:a16="http://schemas.microsoft.com/office/drawing/2014/main" id="{EDC4B63C-8FDD-53CD-00E1-2FC80082D423}"/>
              </a:ext>
            </a:extLst>
          </p:cNvPr>
          <p:cNvSpPr/>
          <p:nvPr/>
        </p:nvSpPr>
        <p:spPr>
          <a:xfrm>
            <a:off x="939361" y="4035448"/>
            <a:ext cx="3258207" cy="1019503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29" b="-10029"/>
            </a:stretch>
          </a:blip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978D546B-4938-338C-D779-0DD73FA4FC01}"/>
              </a:ext>
            </a:extLst>
          </p:cNvPr>
          <p:cNvCxnSpPr>
            <a:stCxn id="7" idx="2"/>
            <a:endCxn id="46" idx="0"/>
          </p:cNvCxnSpPr>
          <p:nvPr/>
        </p:nvCxnSpPr>
        <p:spPr>
          <a:xfrm>
            <a:off x="2568465" y="3831019"/>
            <a:ext cx="0" cy="204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42935B8B-C6BC-5329-5698-0377086AB18D}"/>
              </a:ext>
            </a:extLst>
          </p:cNvPr>
          <p:cNvCxnSpPr>
            <a:stCxn id="46" idx="2"/>
            <a:endCxn id="14" idx="0"/>
          </p:cNvCxnSpPr>
          <p:nvPr/>
        </p:nvCxnSpPr>
        <p:spPr>
          <a:xfrm>
            <a:off x="2568465" y="5054951"/>
            <a:ext cx="0" cy="215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119DAB5D-A093-B4A1-7844-58A8C22C9D7F}"/>
              </a:ext>
            </a:extLst>
          </p:cNvPr>
          <p:cNvSpPr txBox="1"/>
          <p:nvPr/>
        </p:nvSpPr>
        <p:spPr>
          <a:xfrm>
            <a:off x="5098093" y="3748567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75%</a:t>
            </a:r>
          </a:p>
        </p:txBody>
      </p:sp>
      <p:cxnSp>
        <p:nvCxnSpPr>
          <p:cNvPr id="57" name="Gerade Verbindung 56">
            <a:extLst>
              <a:ext uri="{FF2B5EF4-FFF2-40B4-BE49-F238E27FC236}">
                <a16:creationId xmlns:a16="http://schemas.microsoft.com/office/drawing/2014/main" id="{96B8CA31-D04B-9D4E-CA2F-EB5D845F3010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939361" y="3933233"/>
            <a:ext cx="41587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2B87847E-7710-06EA-7CD1-2B3836F47469}"/>
              </a:ext>
            </a:extLst>
          </p:cNvPr>
          <p:cNvSpPr/>
          <p:nvPr/>
        </p:nvSpPr>
        <p:spPr>
          <a:xfrm>
            <a:off x="5826670" y="5270415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2742DE3-3FB1-4BCA-4FE1-2CF16D9988F3}"/>
              </a:ext>
            </a:extLst>
          </p:cNvPr>
          <p:cNvSpPr txBox="1"/>
          <p:nvPr/>
        </p:nvSpPr>
        <p:spPr>
          <a:xfrm>
            <a:off x="6173588" y="5601363"/>
            <a:ext cx="1936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Ergebnis/Gemini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5786598C-5100-8FB7-5977-3B61DEBB429B}"/>
              </a:ext>
            </a:extLst>
          </p:cNvPr>
          <p:cNvCxnSpPr>
            <a:cxnSpLocks/>
            <a:stCxn id="14" idx="3"/>
            <a:endCxn id="59" idx="1"/>
          </p:cNvCxnSpPr>
          <p:nvPr/>
        </p:nvCxnSpPr>
        <p:spPr>
          <a:xfrm flipV="1">
            <a:off x="4197568" y="5780167"/>
            <a:ext cx="16291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EF84EB32-0986-38BF-7285-4C8CE8709DAF}"/>
              </a:ext>
            </a:extLst>
          </p:cNvPr>
          <p:cNvCxnSpPr>
            <a:cxnSpLocks/>
            <a:stCxn id="46" idx="3"/>
            <a:endCxn id="70" idx="1"/>
          </p:cNvCxnSpPr>
          <p:nvPr/>
        </p:nvCxnSpPr>
        <p:spPr>
          <a:xfrm flipV="1">
            <a:off x="4197568" y="4540893"/>
            <a:ext cx="1629101" cy="4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Abgerundetes Rechteck 69">
            <a:extLst>
              <a:ext uri="{FF2B5EF4-FFF2-40B4-BE49-F238E27FC236}">
                <a16:creationId xmlns:a16="http://schemas.microsoft.com/office/drawing/2014/main" id="{9E7840E9-5E37-6FCB-254B-1DB504C0125E}"/>
              </a:ext>
            </a:extLst>
          </p:cNvPr>
          <p:cNvSpPr/>
          <p:nvPr/>
        </p:nvSpPr>
        <p:spPr>
          <a:xfrm>
            <a:off x="5826669" y="4031141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257E9DA2-C13B-B723-9ADC-7A3A8EEF5521}"/>
              </a:ext>
            </a:extLst>
          </p:cNvPr>
          <p:cNvSpPr txBox="1"/>
          <p:nvPr/>
        </p:nvSpPr>
        <p:spPr>
          <a:xfrm>
            <a:off x="6267569" y="4356226"/>
            <a:ext cx="1601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Kein Ergebnis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B4E0654B-13B1-6AFF-63D7-E13F0E9A74D6}"/>
              </a:ext>
            </a:extLst>
          </p:cNvPr>
          <p:cNvSpPr txBox="1"/>
          <p:nvPr/>
        </p:nvSpPr>
        <p:spPr>
          <a:xfrm>
            <a:off x="4683308" y="418811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15%&gt;</a:t>
            </a:r>
          </a:p>
        </p:txBody>
      </p:sp>
      <p:sp>
        <p:nvSpPr>
          <p:cNvPr id="81" name="Abgerundetes Rechteck 80">
            <a:extLst>
              <a:ext uri="{FF2B5EF4-FFF2-40B4-BE49-F238E27FC236}">
                <a16:creationId xmlns:a16="http://schemas.microsoft.com/office/drawing/2014/main" id="{D3150BB9-2F5D-59C5-4BBD-BF756ECEB03F}"/>
              </a:ext>
            </a:extLst>
          </p:cNvPr>
          <p:cNvSpPr/>
          <p:nvPr/>
        </p:nvSpPr>
        <p:spPr>
          <a:xfrm>
            <a:off x="9072176" y="5270415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B06D40B5-150B-60F8-1EF6-D1D3F355E5DC}"/>
              </a:ext>
            </a:extLst>
          </p:cNvPr>
          <p:cNvSpPr txBox="1"/>
          <p:nvPr/>
        </p:nvSpPr>
        <p:spPr>
          <a:xfrm>
            <a:off x="9894334" y="5601363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Cache</a:t>
            </a:r>
          </a:p>
        </p:txBody>
      </p: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5D44EC0A-3021-9FB8-C530-A7A35F125756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8309679" y="5780167"/>
            <a:ext cx="762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3EAE3F9D-7CC0-80BF-FC42-3EADCDFC223C}"/>
              </a:ext>
            </a:extLst>
          </p:cNvPr>
          <p:cNvSpPr txBox="1"/>
          <p:nvPr/>
        </p:nvSpPr>
        <p:spPr>
          <a:xfrm>
            <a:off x="9072176" y="1698471"/>
            <a:ext cx="206300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b="1" dirty="0"/>
              <a:t>Neu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2">
                    <a:lumMod val="50000"/>
                  </a:schemeClr>
                </a:solidFill>
              </a:rPr>
              <a:t>Meilisearch</a:t>
            </a:r>
            <a:endParaRPr lang="de-DE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2">
                    <a:lumMod val="50000"/>
                  </a:schemeClr>
                </a:solidFill>
              </a:rPr>
              <a:t>Schwellenwerte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Cache</a:t>
            </a:r>
          </a:p>
        </p:txBody>
      </p:sp>
      <p:sp>
        <p:nvSpPr>
          <p:cNvPr id="105" name="Titel 104">
            <a:extLst>
              <a:ext uri="{FF2B5EF4-FFF2-40B4-BE49-F238E27FC236}">
                <a16:creationId xmlns:a16="http://schemas.microsoft.com/office/drawing/2014/main" id="{17566B5C-2E61-972F-9C8E-53129189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DC0D345-40ED-5D77-9F15-5C67BB57F917}"/>
              </a:ext>
            </a:extLst>
          </p:cNvPr>
          <p:cNvSpPr txBox="1"/>
          <p:nvPr/>
        </p:nvSpPr>
        <p:spPr>
          <a:xfrm rot="16200000">
            <a:off x="-469122" y="4195402"/>
            <a:ext cx="161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5 Fachbegriffe</a:t>
            </a:r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DFAADBC0-5574-3653-6FE3-2FAF7BA72ECB}"/>
              </a:ext>
            </a:extLst>
          </p:cNvPr>
          <p:cNvCxnSpPr>
            <a:cxnSpLocks/>
          </p:cNvCxnSpPr>
          <p:nvPr/>
        </p:nvCxnSpPr>
        <p:spPr>
          <a:xfrm>
            <a:off x="939361" y="5162683"/>
            <a:ext cx="37439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02C1E723-F9A9-20BC-42C2-DEFC9F3805EC}"/>
              </a:ext>
            </a:extLst>
          </p:cNvPr>
          <p:cNvSpPr txBox="1"/>
          <p:nvPr/>
        </p:nvSpPr>
        <p:spPr>
          <a:xfrm>
            <a:off x="4683308" y="4983534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15% - 75%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92F2DE6A-574D-F1C8-0D79-5BA0B761AF86}"/>
              </a:ext>
            </a:extLst>
          </p:cNvPr>
          <p:cNvSpPr/>
          <p:nvPr/>
        </p:nvSpPr>
        <p:spPr>
          <a:xfrm>
            <a:off x="5826669" y="1586535"/>
            <a:ext cx="2483009" cy="10195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5DAA14-18A8-3979-06E7-21C5412624D3}"/>
              </a:ext>
            </a:extLst>
          </p:cNvPr>
          <p:cNvSpPr txBox="1"/>
          <p:nvPr/>
        </p:nvSpPr>
        <p:spPr>
          <a:xfrm>
            <a:off x="6474420" y="1910459"/>
            <a:ext cx="122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</a:t>
            </a:r>
            <a:r>
              <a:rPr lang="de-DE" b="1" dirty="0"/>
              <a:t>Eingabe</a:t>
            </a:r>
            <a:r>
              <a:rPr lang="de-DE" dirty="0"/>
              <a:t>“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94375AB-22B8-3DE2-E45F-7A8A8A91D524}"/>
              </a:ext>
            </a:extLst>
          </p:cNvPr>
          <p:cNvCxnSpPr>
            <a:stCxn id="6" idx="1"/>
          </p:cNvCxnSpPr>
          <p:nvPr/>
        </p:nvCxnSpPr>
        <p:spPr>
          <a:xfrm flipH="1">
            <a:off x="4197568" y="2096287"/>
            <a:ext cx="1629101" cy="1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02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0738422-C83B-457F-211F-F124FCC20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44" t="13357" r="28865" b="13113"/>
          <a:stretch>
            <a:fillRect/>
          </a:stretch>
        </p:blipFill>
        <p:spPr>
          <a:xfrm>
            <a:off x="8293394" y="3370354"/>
            <a:ext cx="3349256" cy="31897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4498A2-AAAA-8F15-C8D5-E225FF9B9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Story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B8AAD5-6C35-1EF3-7475-01C91DE9A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Tom, 30 Jahre alt </a:t>
            </a:r>
          </a:p>
          <a:p>
            <a:r>
              <a:rPr lang="de-DE" dirty="0"/>
              <a:t>Wacht auf mit geröteten, verklebten Augen und Eiter</a:t>
            </a:r>
          </a:p>
          <a:p>
            <a:r>
              <a:rPr lang="de-DE" dirty="0"/>
              <a:t>Will eine Diagnose</a:t>
            </a:r>
          </a:p>
          <a:p>
            <a:endParaRPr lang="de-DE" dirty="0"/>
          </a:p>
          <a:p>
            <a:r>
              <a:rPr lang="de-DE" dirty="0"/>
              <a:t>1. Szenario: Besuch beim Augenarzt </a:t>
            </a:r>
            <a:r>
              <a:rPr lang="de-DE" dirty="0">
                <a:sym typeface="Wingdings" pitchFamily="2" charset="2"/>
              </a:rPr>
              <a:t> Konjunktivitis</a:t>
            </a:r>
          </a:p>
          <a:p>
            <a:pPr lvl="1"/>
            <a:r>
              <a:rPr lang="de-DE" dirty="0">
                <a:sym typeface="Wingdings" pitchFamily="2" charset="2"/>
              </a:rPr>
              <a:t>Schlimm?</a:t>
            </a:r>
          </a:p>
          <a:p>
            <a:pPr lvl="1"/>
            <a:r>
              <a:rPr lang="de-DE" dirty="0">
                <a:sym typeface="Wingdings" pitchFamily="2" charset="2"/>
              </a:rPr>
              <a:t>Ansteckend?</a:t>
            </a:r>
          </a:p>
          <a:p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2. Szenario: Will zuerst selbst überprüfen</a:t>
            </a:r>
          </a:p>
          <a:p>
            <a:pPr lvl="1"/>
            <a:r>
              <a:rPr lang="de-DE" dirty="0">
                <a:sym typeface="Wingdings" pitchFamily="2" charset="2"/>
              </a:rPr>
              <a:t>Arten der Krankheit?</a:t>
            </a:r>
          </a:p>
          <a:p>
            <a:pPr lvl="1"/>
            <a:r>
              <a:rPr lang="de-DE" dirty="0">
                <a:sym typeface="Wingdings" pitchFamily="2" charset="2"/>
              </a:rPr>
              <a:t>Passenden Arzt finden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263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7824E3-E76E-A522-E912-AEC2AB00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658" y="2856077"/>
            <a:ext cx="2598683" cy="1325563"/>
          </a:xfrm>
        </p:spPr>
        <p:txBody>
          <a:bodyPr/>
          <a:lstStyle/>
          <a:p>
            <a:r>
              <a:rPr lang="de-DE" dirty="0" err="1"/>
              <a:t>Livedemo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643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400387a-212f-43ea-ac7f-77aa12d7977e}" enabled="0" method="" siteId="{d400387a-212f-43ea-ac7f-77aa12d7977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Macintosh PowerPoint</Application>
  <PresentationFormat>Breitbild</PresentationFormat>
  <Paragraphs>63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Demo 1 – Medcode</vt:lpstr>
      <vt:lpstr>Einführung</vt:lpstr>
      <vt:lpstr>Einführung</vt:lpstr>
      <vt:lpstr>Einführung</vt:lpstr>
      <vt:lpstr>Einführung</vt:lpstr>
      <vt:lpstr>Einführung</vt:lpstr>
      <vt:lpstr>Story</vt:lpstr>
      <vt:lpstr>Livedemo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Linder, Stefan (STUDENTS)</dc:creator>
  <cp:lastModifiedBy>Linder, Stefan (STUDENTS)</cp:lastModifiedBy>
  <cp:revision>1</cp:revision>
  <dcterms:created xsi:type="dcterms:W3CDTF">2026-03-31T12:36:51Z</dcterms:created>
  <dcterms:modified xsi:type="dcterms:W3CDTF">2026-04-22T21:45:27Z</dcterms:modified>
</cp:coreProperties>
</file>