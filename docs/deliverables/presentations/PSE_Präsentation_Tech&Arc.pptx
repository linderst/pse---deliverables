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738" r:id="rId2"/>
    <p:sldMasterId id="2147483793" r:id="rId3"/>
  </p:sldMasterIdLst>
  <p:notesMasterIdLst>
    <p:notesMasterId r:id="rId18"/>
  </p:notesMasterIdLst>
  <p:handoutMasterIdLst>
    <p:handoutMasterId r:id="rId19"/>
  </p:handoutMasterIdLst>
  <p:sldIdLst>
    <p:sldId id="256" r:id="rId4"/>
    <p:sldId id="257" r:id="rId5"/>
    <p:sldId id="261" r:id="rId6"/>
    <p:sldId id="258" r:id="rId7"/>
    <p:sldId id="267" r:id="rId8"/>
    <p:sldId id="260" r:id="rId9"/>
    <p:sldId id="259" r:id="rId10"/>
    <p:sldId id="266" r:id="rId11"/>
    <p:sldId id="269" r:id="rId12"/>
    <p:sldId id="262" r:id="rId13"/>
    <p:sldId id="263" r:id="rId14"/>
    <p:sldId id="264" r:id="rId15"/>
    <p:sldId id="268" r:id="rId16"/>
    <p:sldId id="265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0BF"/>
    <a:srgbClr val="BDCCD2"/>
    <a:srgbClr val="FFFFFF"/>
    <a:srgbClr val="4A8796"/>
    <a:srgbClr val="E6002E"/>
    <a:srgbClr val="F4F4F4"/>
    <a:srgbClr val="8E8E8E"/>
    <a:srgbClr val="8DABC9"/>
    <a:srgbClr val="E1EBF5"/>
    <a:srgbClr val="BED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76855" autoAdjust="0"/>
  </p:normalViewPr>
  <p:slideViewPr>
    <p:cSldViewPr>
      <p:cViewPr>
        <p:scale>
          <a:sx n="181" d="100"/>
          <a:sy n="181" d="100"/>
        </p:scale>
        <p:origin x="-868" y="-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B13D9-EE20-4263-A517-453A6CC0358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6EC07-0A99-4547-B3E3-7D82A955BA1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86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9E2E8-0589-406D-8FD1-7B0DBC84FBDE}" type="datetimeFigureOut">
              <a:rPr lang="de-CH" smtClean="0"/>
              <a:t>22.04.2026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01061-0450-4586-BC97-FCEC15115AD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255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Code-Interpretation	- </a:t>
            </a:r>
            <a:r>
              <a:rPr lang="de-DE" sz="1400" dirty="0"/>
              <a:t>Was bedeutet Code E11.9 </a:t>
            </a:r>
            <a:endParaRPr lang="en-US" dirty="0"/>
          </a:p>
          <a:p>
            <a:pPr lvl="1"/>
            <a:r>
              <a:rPr lang="en-US" dirty="0" err="1"/>
              <a:t>Terminologie-Übersetzung</a:t>
            </a:r>
            <a:r>
              <a:rPr lang="en-US" dirty="0"/>
              <a:t>	- </a:t>
            </a:r>
            <a:r>
              <a:rPr lang="en-US" sz="1400" dirty="0" err="1"/>
              <a:t>Erläuterung</a:t>
            </a:r>
            <a:r>
              <a:rPr lang="en-US" sz="1400" dirty="0"/>
              <a:t> </a:t>
            </a:r>
            <a:r>
              <a:rPr lang="en-US" sz="1400" dirty="0" err="1"/>
              <a:t>komplexer</a:t>
            </a:r>
            <a:r>
              <a:rPr lang="en-US" sz="1400" dirty="0"/>
              <a:t> </a:t>
            </a:r>
            <a:r>
              <a:rPr lang="en-US" sz="1400" dirty="0" err="1"/>
              <a:t>Fachbegriffe</a:t>
            </a:r>
            <a:endParaRPr lang="en-US" dirty="0"/>
          </a:p>
          <a:p>
            <a:pPr lvl="1"/>
            <a:r>
              <a:rPr lang="en-US" dirty="0" err="1"/>
              <a:t>Patienten</a:t>
            </a:r>
            <a:r>
              <a:rPr lang="en-US" dirty="0"/>
              <a:t>-Guidance	- </a:t>
            </a:r>
            <a:r>
              <a:rPr lang="en-US" sz="1400" dirty="0" err="1"/>
              <a:t>Behandlungsablauf</a:t>
            </a:r>
            <a:r>
              <a:rPr lang="en-US" dirty="0"/>
              <a:t> und </a:t>
            </a:r>
            <a:r>
              <a:rPr lang="en-US" dirty="0" err="1"/>
              <a:t>Verhaltenshinweise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Spezialisten-Zuweisung</a:t>
            </a:r>
            <a:r>
              <a:rPr lang="en-US" dirty="0"/>
              <a:t>	- </a:t>
            </a:r>
            <a:r>
              <a:rPr lang="en-US" sz="1400" dirty="0" err="1"/>
              <a:t>Zuständige</a:t>
            </a:r>
            <a:r>
              <a:rPr lang="en-US" sz="1400" dirty="0"/>
              <a:t> </a:t>
            </a:r>
            <a:r>
              <a:rPr lang="en-US" sz="1400" dirty="0" err="1"/>
              <a:t>Fachrichtung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5378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AED1-69FC-CF16-59FB-ED2AFE8F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20F406-64B2-37F9-1427-5B4829998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954C694-DA6F-F303-8DCF-83BD3A461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Code-Interpretation	- </a:t>
            </a:r>
            <a:r>
              <a:rPr lang="de-DE" sz="1400" dirty="0"/>
              <a:t>Was bedeutet Code E11.9 </a:t>
            </a:r>
            <a:endParaRPr lang="en-US" dirty="0"/>
          </a:p>
          <a:p>
            <a:pPr lvl="1"/>
            <a:r>
              <a:rPr lang="en-US" dirty="0" err="1"/>
              <a:t>Terminologie-Übersetzung</a:t>
            </a:r>
            <a:r>
              <a:rPr lang="en-US" dirty="0"/>
              <a:t>	- </a:t>
            </a:r>
            <a:r>
              <a:rPr lang="en-US" sz="1400" dirty="0" err="1"/>
              <a:t>Erläuterung</a:t>
            </a:r>
            <a:r>
              <a:rPr lang="en-US" sz="1400" dirty="0"/>
              <a:t> </a:t>
            </a:r>
            <a:r>
              <a:rPr lang="en-US" sz="1400" dirty="0" err="1"/>
              <a:t>komplexer</a:t>
            </a:r>
            <a:r>
              <a:rPr lang="en-US" sz="1400" dirty="0"/>
              <a:t> </a:t>
            </a:r>
            <a:r>
              <a:rPr lang="en-US" sz="1400" dirty="0" err="1"/>
              <a:t>Fachbegriffe</a:t>
            </a:r>
            <a:endParaRPr lang="en-US" dirty="0"/>
          </a:p>
          <a:p>
            <a:pPr lvl="1"/>
            <a:r>
              <a:rPr lang="en-US" dirty="0" err="1"/>
              <a:t>Patienten</a:t>
            </a:r>
            <a:r>
              <a:rPr lang="en-US" dirty="0"/>
              <a:t>-Guidance	- </a:t>
            </a:r>
            <a:r>
              <a:rPr lang="en-US" sz="1400" dirty="0" err="1"/>
              <a:t>Behandlungsablauf</a:t>
            </a:r>
            <a:r>
              <a:rPr lang="en-US" dirty="0"/>
              <a:t> und </a:t>
            </a:r>
            <a:r>
              <a:rPr lang="en-US" dirty="0" err="1"/>
              <a:t>Verhaltenshinweise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Spezialisten-Zuweisung</a:t>
            </a:r>
            <a:r>
              <a:rPr lang="en-US" dirty="0"/>
              <a:t>	- </a:t>
            </a:r>
            <a:r>
              <a:rPr lang="en-US" sz="1400" dirty="0" err="1"/>
              <a:t>Zuständige</a:t>
            </a:r>
            <a:r>
              <a:rPr lang="en-US" sz="1400" dirty="0"/>
              <a:t> </a:t>
            </a:r>
            <a:r>
              <a:rPr lang="en-US" sz="1400" dirty="0" err="1"/>
              <a:t>Fachrichtung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0F3DF7-0683-8652-8709-CD86AF612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10897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6111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E8EA-6C47-9C1B-2474-D4CD217C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A2709D2-7E92-20D1-07EE-A6D200F28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EEB1EE-90DF-6C51-168F-5FE22DE1A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User Text -&gt; Frontend -&gt; Backend (RAG (Retrieval </a:t>
            </a:r>
            <a:r>
              <a:rPr lang="de-CH" dirty="0" err="1"/>
              <a:t>Augmented</a:t>
            </a:r>
            <a:r>
              <a:rPr lang="de-CH"/>
              <a:t> Generation) Pipeline) </a:t>
            </a:r>
            <a:r>
              <a:rPr lang="de-CH" dirty="0"/>
              <a:t>&lt;-&gt; DB -&gt; API </a:t>
            </a:r>
            <a:r>
              <a:rPr lang="de-CH"/>
              <a:t>-&gt; Frontend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B21BF2-C87C-1132-BC3A-6A2DE0EFB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226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Die Daten werden zuerst indexiert, also in eine suchoptimierte Struktur gebracht.</a:t>
            </a:r>
          </a:p>
          <a:p>
            <a:r>
              <a:rPr lang="de-DE" dirty="0"/>
              <a:t>Bei einer Anfrage wird diese gegen den Index gematcht und die Ergebnisse werden nach Relevanz sortiert.</a:t>
            </a:r>
          </a:p>
          <a:p>
            <a:r>
              <a:rPr lang="de-DE" dirty="0"/>
              <a:t>Schneller und genauer als klassischen SQL-Abfragen wie LIKE</a:t>
            </a:r>
          </a:p>
          <a:p>
            <a:r>
              <a:rPr lang="de-DE" dirty="0"/>
              <a:t>Allerdings basiert </a:t>
            </a:r>
            <a:r>
              <a:rPr lang="de-DE" dirty="0" err="1"/>
              <a:t>Meilisearch</a:t>
            </a:r>
            <a:r>
              <a:rPr lang="de-DE" dirty="0"/>
              <a:t> nur auf Keywords und versteht keine Bedeutung – deshalb kombinieren wir es mit semantischer Suche.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091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„Die Suchanfrage wird zuerst in einen Vektor umgewandelt.“</a:t>
            </a:r>
          </a:p>
          <a:p>
            <a:r>
              <a:rPr lang="de-DE" dirty="0"/>
              <a:t>„Dann vergleichen wir diesen Vektor mit gespeicherten Vektoren in der Datenbank.“</a:t>
            </a:r>
          </a:p>
          <a:p>
            <a:r>
              <a:rPr lang="de-DE" dirty="0"/>
              <a:t>„Ähnliche Vektoren bedeuten ähnliche Inhalte.“</a:t>
            </a:r>
          </a:p>
          <a:p>
            <a:r>
              <a:rPr lang="de-DE" dirty="0"/>
              <a:t>„Im Gegensatz zur Keyword-Suche können wir so auch Ergebnisse finden, die inhaltlich ähnlich sind, selbst wenn andere Wörter verwendet werden.“</a:t>
            </a:r>
          </a:p>
          <a:p>
            <a:r>
              <a:rPr lang="de-DE" dirty="0"/>
              <a:t>„</a:t>
            </a:r>
            <a:r>
              <a:rPr lang="de-DE" dirty="0" err="1"/>
              <a:t>pgvector</a:t>
            </a:r>
            <a:r>
              <a:rPr lang="de-DE" dirty="0"/>
              <a:t> ergänzt </a:t>
            </a:r>
            <a:r>
              <a:rPr lang="de-DE" dirty="0" err="1"/>
              <a:t>Meilisearch</a:t>
            </a:r>
            <a:r>
              <a:rPr lang="de-DE" dirty="0"/>
              <a:t>, da es Bedeutung versteht, während </a:t>
            </a:r>
            <a:r>
              <a:rPr lang="de-DE" dirty="0" err="1"/>
              <a:t>Meilisearch</a:t>
            </a:r>
            <a:r>
              <a:rPr lang="de-DE" dirty="0"/>
              <a:t> nur Keywords betrachtet.“</a:t>
            </a:r>
          </a:p>
          <a:p>
            <a:endParaRPr lang="de-DE" dirty="0"/>
          </a:p>
          <a:p>
            <a:r>
              <a:rPr lang="de-DE" b="1" dirty="0"/>
              <a:t>🔹 Was ist ein Embedding?</a:t>
            </a:r>
          </a:p>
          <a:p>
            <a:r>
              <a:rPr lang="de-DE" dirty="0"/>
              <a:t>👉 Das ist der wichtigste Teil – hier kommen oft Fragen.</a:t>
            </a:r>
          </a:p>
          <a:p>
            <a:r>
              <a:rPr lang="de-DE" dirty="0"/>
              <a:t>„Ein Embedding ist eine numerische Darstellung von Text als Vektor.“</a:t>
            </a:r>
          </a:p>
          <a:p>
            <a:r>
              <a:rPr lang="de-DE" dirty="0"/>
              <a:t>Optional einfacher:</a:t>
            </a:r>
          </a:p>
          <a:p>
            <a:r>
              <a:rPr lang="de-DE" dirty="0"/>
              <a:t>„Man kann sich das als eine Art mathematische Darstellung der Bedeutung eines Textes vorstellen.“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6812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sentence-transformers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library</a:t>
            </a:r>
            <a:r>
              <a:rPr lang="de-DE" dirty="0"/>
              <a:t> basierend auf </a:t>
            </a:r>
            <a:r>
              <a:rPr lang="de-DE" dirty="0" err="1"/>
              <a:t>PyTorch</a:t>
            </a:r>
            <a:r>
              <a:rPr lang="de-DE" dirty="0"/>
              <a:t> (</a:t>
            </a:r>
            <a:r>
              <a:rPr lang="de-DE" dirty="0" err="1"/>
              <a:t>opensource</a:t>
            </a:r>
            <a:r>
              <a:rPr lang="de-DE" dirty="0"/>
              <a:t>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framework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75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9CA74-7031-EDCA-CFAC-F9658D4A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3696C1-82E5-474B-0F52-B82F922FA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9A25CAB-AA02-8059-C9FA-85C003DA1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41512C-0F41-7CD2-D20B-086EBB9BA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01061-0450-4586-BC97-FCEC15115AD3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7223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23" hasCustomPrompt="1"/>
          </p:nvPr>
        </p:nvSpPr>
        <p:spPr>
          <a:xfrm rot="20402096">
            <a:off x="3613655" y="2323187"/>
            <a:ext cx="1800225" cy="1593397"/>
          </a:xfrm>
          <a:prstGeom prst="rect">
            <a:avLst/>
          </a:prstGeom>
          <a:solidFill>
            <a:srgbClr val="F4F4F4"/>
          </a:solidFill>
        </p:spPr>
        <p:txBody>
          <a:bodyPr lIns="36000" tIns="36000" rIns="36000" bIns="36000" anchor="ctr"/>
          <a:lstStyle>
            <a:lvl1pPr marL="0" indent="0" algn="ctr" defTabSz="457200" rtl="0" eaLnBrk="1" latinLnBrk="0" hangingPunct="1">
              <a:buNone/>
              <a:defRPr lang="de-DE" sz="6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1pPr>
            <a:lvl2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2pPr>
            <a:lvl3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3pPr>
            <a:lvl4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4pPr>
            <a:lvl5pPr marL="0" algn="ctr" defTabSz="457200" rtl="0" eaLnBrk="1" latinLnBrk="0" hangingPunct="1">
              <a:defRPr lang="en-US" sz="8000" kern="1200" dirty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CH" dirty="0"/>
              <a:t>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5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0" y="2016000"/>
            <a:ext cx="9144000" cy="31275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20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«Titelbild»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32623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0078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</p:spTree>
    <p:extLst>
      <p:ext uri="{BB962C8B-B14F-4D97-AF65-F5344CB8AC3E}">
        <p14:creationId xmlns:p14="http://schemas.microsoft.com/office/powerpoint/2010/main" val="75581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8424467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96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1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3204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60000" y="1332000"/>
            <a:ext cx="4176000" cy="3204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9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8424466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332000"/>
            <a:ext cx="8424467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8424466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1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420000"/>
            <a:ext cx="8424466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1" y="225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01063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4010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4608000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</p:spTree>
    <p:extLst>
      <p:ext uri="{BB962C8B-B14F-4D97-AF65-F5344CB8AC3E}">
        <p14:creationId xmlns:p14="http://schemas.microsoft.com/office/powerpoint/2010/main" val="319061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8424467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70251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128283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6" y="1080000"/>
            <a:ext cx="6588264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5501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195736" y="1080000"/>
            <a:ext cx="658826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195737" y="2844000"/>
            <a:ext cx="6588262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3750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7" y="108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195737" y="3420000"/>
            <a:ext cx="6588261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195736" y="225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365748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6" y="1080000"/>
            <a:ext cx="5112568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24861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015716" y="1080000"/>
            <a:ext cx="5112568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015716" y="2844000"/>
            <a:ext cx="5112567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1534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5" y="108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015716" y="3420000"/>
            <a:ext cx="5112568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2015714" y="225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981867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2699793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444508" y="1080000"/>
            <a:ext cx="2700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37753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-1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0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444715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444716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79659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2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2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8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1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444816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0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444816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2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444815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5744613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60038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012160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01308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2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2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012160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012161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8173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359533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359533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359532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011962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011962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011961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44690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6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80175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9" name="Inhaltsplatzhalter 7"/>
          <p:cNvSpPr>
            <a:spLocks noGrp="1"/>
          </p:cNvSpPr>
          <p:nvPr>
            <p:ph sz="quarter" idx="3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39364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29178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38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60774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790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53"/>
          <p:cNvSpPr>
            <a:spLocks noGrp="1"/>
          </p:cNvSpPr>
          <p:nvPr>
            <p:ph sz="half" idx="36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7776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212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Bildplatzhalter 4"/>
          <p:cNvSpPr>
            <a:spLocks noGrp="1"/>
          </p:cNvSpPr>
          <p:nvPr>
            <p:ph type="pic" sz="quarter" idx="28"/>
          </p:nvPr>
        </p:nvSpPr>
        <p:spPr>
          <a:xfrm>
            <a:off x="2087796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5127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933918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18"/>
          <p:cNvSpPr>
            <a:spLocks noGrp="1"/>
          </p:cNvSpPr>
          <p:nvPr>
            <p:ph sz="half" idx="38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Inhaltsplatzhalter 22"/>
          <p:cNvSpPr>
            <a:spLocks noGrp="1"/>
          </p:cNvSpPr>
          <p:nvPr>
            <p:ph sz="half" idx="39" hasCustomPrompt="1"/>
          </p:nvPr>
        </p:nvSpPr>
        <p:spPr>
          <a:xfrm>
            <a:off x="0" y="3420000"/>
            <a:ext cx="2736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69191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32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2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212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230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Bildplatzhalter 4"/>
          <p:cNvSpPr>
            <a:spLocks noGrp="1"/>
          </p:cNvSpPr>
          <p:nvPr>
            <p:ph type="pic" sz="quarter" idx="32"/>
          </p:nvPr>
        </p:nvSpPr>
        <p:spPr>
          <a:xfrm>
            <a:off x="208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5" name="Bildplatzhalter 4"/>
          <p:cNvSpPr>
            <a:spLocks noGrp="1"/>
          </p:cNvSpPr>
          <p:nvPr>
            <p:ph type="pic" sz="quarter" idx="33"/>
          </p:nvPr>
        </p:nvSpPr>
        <p:spPr>
          <a:xfrm>
            <a:off x="226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82174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10257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88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17"/>
          <p:cNvSpPr>
            <a:spLocks noGrp="1"/>
          </p:cNvSpPr>
          <p:nvPr>
            <p:ph sz="half" idx="34" hasCustomPrompt="1"/>
          </p:nvPr>
        </p:nvSpPr>
        <p:spPr>
          <a:xfrm>
            <a:off x="0" y="2538000"/>
            <a:ext cx="270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14074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 rot="20390563">
            <a:off x="3745193" y="2430129"/>
            <a:ext cx="1525648" cy="1323439"/>
          </a:xfrm>
          <a:prstGeom prst="rect">
            <a:avLst/>
          </a:prstGeom>
          <a:solidFill>
            <a:srgbClr val="F4F4F4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CH" sz="8000" dirty="0">
                <a:solidFill>
                  <a:srgbClr val="8E8E8E"/>
                </a:solidFill>
              </a:rPr>
              <a:t>?</a:t>
            </a:r>
            <a:endParaRPr lang="en-US" sz="8000" dirty="0">
              <a:solidFill>
                <a:srgbClr val="8E8E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103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15674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 der Vorlesung»</a:t>
            </a:r>
          </a:p>
        </p:txBody>
      </p:sp>
      <p:cxnSp>
        <p:nvCxnSpPr>
          <p:cNvPr id="3" name="Gerader Verbinder 2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64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789" r:id="rId2"/>
    <p:sldLayoutId id="2147483792" r:id="rId3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idx="1"/>
          </p:nvPr>
        </p:nvSpPr>
        <p:spPr>
          <a:xfrm>
            <a:off x="360000" y="1080000"/>
            <a:ext cx="8424000" cy="3456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3"/>
          </p:nvPr>
        </p:nvSpPr>
        <p:spPr>
          <a:xfrm>
            <a:off x="359532" y="4860000"/>
            <a:ext cx="7992888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4"/>
          </p:nvPr>
        </p:nvSpPr>
        <p:spPr>
          <a:xfrm>
            <a:off x="8388000" y="4860000"/>
            <a:ext cx="396000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Gerader Verbinder 9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18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96" r:id="rId3"/>
    <p:sldLayoutId id="2147483798" r:id="rId4"/>
    <p:sldLayoutId id="2147483804" r:id="rId5"/>
    <p:sldLayoutId id="2147483805" r:id="rId6"/>
    <p:sldLayoutId id="2147483806" r:id="rId7"/>
    <p:sldLayoutId id="2147483797" r:id="rId8"/>
    <p:sldLayoutId id="2147483799" r:id="rId9"/>
    <p:sldLayoutId id="2147483801" r:id="rId10"/>
    <p:sldLayoutId id="2147483800" r:id="rId11"/>
    <p:sldLayoutId id="2147483802" r:id="rId12"/>
    <p:sldLayoutId id="2147483803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6" r:id="rId22"/>
    <p:sldLayoutId id="2147483815" r:id="rId23"/>
    <p:sldLayoutId id="2147483818" r:id="rId24"/>
    <p:sldLayoutId id="2147483824" r:id="rId25"/>
    <p:sldLayoutId id="2147483820" r:id="rId26"/>
    <p:sldLayoutId id="2147483826" r:id="rId27"/>
    <p:sldLayoutId id="2147483817" r:id="rId28"/>
    <p:sldLayoutId id="2147483821" r:id="rId29"/>
    <p:sldLayoutId id="2147483819" r:id="rId30"/>
    <p:sldLayoutId id="2147483822" r:id="rId31"/>
    <p:sldLayoutId id="2147483823" r:id="rId32"/>
    <p:sldLayoutId id="2147483827" r:id="rId33"/>
    <p:sldLayoutId id="2147483825" r:id="rId34"/>
    <p:sldLayoutId id="2147483828" r:id="rId35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«Bedankung»</a:t>
            </a:r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Gerader Verbinder 6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48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Technologie und </a:t>
            </a:r>
            <a:r>
              <a:rPr lang="en-US" dirty="0" err="1"/>
              <a:t>Architektur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 </a:t>
            </a:r>
            <a:r>
              <a:rPr lang="en-US" dirty="0" err="1"/>
              <a:t>Präsentation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Julien Chopin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22.04.2026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7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- </a:t>
            </a:r>
            <a:r>
              <a:rPr lang="en-US" dirty="0" err="1"/>
              <a:t>Medcode</a:t>
            </a:r>
            <a:endParaRPr lang="en-US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20"/>
          </p:nvPr>
        </p:nvSpPr>
        <p:spPr>
          <a:xfrm>
            <a:off x="359533" y="1059582"/>
            <a:ext cx="8424468" cy="34764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u="sng" dirty="0"/>
          </a:p>
          <a:p>
            <a:pPr marL="0" indent="0">
              <a:buNone/>
            </a:pPr>
            <a:endParaRPr lang="de-DE" u="sng" dirty="0"/>
          </a:p>
          <a:p>
            <a:pPr marL="0" indent="0">
              <a:buNone/>
            </a:pPr>
            <a:endParaRPr lang="de-DE" u="sng" dirty="0"/>
          </a:p>
          <a:p>
            <a:pPr marL="0" indent="0">
              <a:buNone/>
            </a:pPr>
            <a:endParaRPr lang="de-DE" u="sng" dirty="0"/>
          </a:p>
          <a:p>
            <a:pPr marL="0" indent="0">
              <a:buNone/>
            </a:pPr>
            <a:endParaRPr lang="de-DE" u="sng" dirty="0"/>
          </a:p>
          <a:p>
            <a:pPr marL="0" indent="0">
              <a:buNone/>
            </a:pPr>
            <a:r>
              <a:rPr lang="de-DE" u="sng" dirty="0"/>
              <a:t>Projektziel:</a:t>
            </a:r>
          </a:p>
          <a:p>
            <a:r>
              <a:rPr lang="de-DE" dirty="0"/>
              <a:t>semantischen Suche mit KI-gestützte Komponente. </a:t>
            </a:r>
          </a:p>
          <a:p>
            <a:pPr lvl="1"/>
            <a:r>
              <a:rPr lang="en-US" dirty="0"/>
              <a:t>Code-Interpretation</a:t>
            </a:r>
          </a:p>
          <a:p>
            <a:pPr lvl="1"/>
            <a:r>
              <a:rPr lang="en-US" dirty="0" err="1"/>
              <a:t>Terminologie-Übersetzung</a:t>
            </a:r>
            <a:endParaRPr lang="en-US" dirty="0"/>
          </a:p>
          <a:p>
            <a:pPr lvl="1"/>
            <a:r>
              <a:rPr lang="en-US" dirty="0" err="1"/>
              <a:t>Patienten</a:t>
            </a:r>
            <a:r>
              <a:rPr lang="en-US" dirty="0"/>
              <a:t>-Guidance</a:t>
            </a:r>
          </a:p>
          <a:p>
            <a:pPr lvl="1"/>
            <a:r>
              <a:rPr lang="en-US" dirty="0" err="1"/>
              <a:t>Spezialisten-Zuweisung</a:t>
            </a:r>
            <a:endParaRPr lang="en-US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2</a:t>
            </a:fld>
            <a:endParaRPr lang="de-CH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916F810-CE1E-36AF-EE1F-65339AE67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66178"/>
              </p:ext>
            </p:extLst>
          </p:nvPr>
        </p:nvGraphicFramePr>
        <p:xfrm>
          <a:off x="424417" y="1059582"/>
          <a:ext cx="3564396" cy="153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8">
                  <a:extLst>
                    <a:ext uri="{9D8B030D-6E8A-4147-A177-3AD203B41FA5}">
                      <a16:colId xmlns:a16="http://schemas.microsoft.com/office/drawing/2014/main" val="4121779650"/>
                    </a:ext>
                  </a:extLst>
                </a:gridCol>
                <a:gridCol w="1782198">
                  <a:extLst>
                    <a:ext uri="{9D8B030D-6E8A-4147-A177-3AD203B41FA5}">
                      <a16:colId xmlns:a16="http://schemas.microsoft.com/office/drawing/2014/main" val="1507677683"/>
                    </a:ext>
                  </a:extLst>
                </a:gridCol>
              </a:tblGrid>
              <a:tr h="232968">
                <a:tc>
                  <a:txBody>
                    <a:bodyPr/>
                    <a:lstStyle/>
                    <a:p>
                      <a:r>
                        <a:rPr lang="de-CH" sz="1200" dirty="0"/>
                        <a:t>Rolle</a:t>
                      </a:r>
                      <a:endParaRPr lang="de-DE" sz="1200" dirty="0"/>
                    </a:p>
                  </a:txBody>
                  <a:tcPr marL="48320" marR="48320" marT="24160" marB="2416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 dirty="0"/>
                        <a:t>Person</a:t>
                      </a:r>
                      <a:endParaRPr lang="de-DE" sz="1200" dirty="0"/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3116475031"/>
                  </a:ext>
                </a:extLst>
              </a:tr>
              <a:tr h="232968">
                <a:tc>
                  <a:txBody>
                    <a:bodyPr/>
                    <a:lstStyle/>
                    <a:p>
                      <a:r>
                        <a:rPr lang="de-CH" sz="1000" dirty="0"/>
                        <a:t>Key Account Manager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Felix</a:t>
                      </a:r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3150273715"/>
                  </a:ext>
                </a:extLst>
              </a:tr>
              <a:tr h="232968">
                <a:tc>
                  <a:txBody>
                    <a:bodyPr/>
                    <a:lstStyle/>
                    <a:p>
                      <a:r>
                        <a:rPr lang="de-CH" sz="1000" dirty="0"/>
                        <a:t>Master-Tracker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Alex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597447929"/>
                  </a:ext>
                </a:extLst>
              </a:tr>
              <a:tr h="232968">
                <a:tc>
                  <a:txBody>
                    <a:bodyPr/>
                    <a:lstStyle/>
                    <a:p>
                      <a:r>
                        <a:rPr lang="de-CH" sz="1000" dirty="0"/>
                        <a:t>Chief </a:t>
                      </a:r>
                      <a:r>
                        <a:rPr lang="de-CH" sz="1000" dirty="0" err="1"/>
                        <a:t>Deliverable</a:t>
                      </a:r>
                      <a:r>
                        <a:rPr lang="de-CH" sz="1000" dirty="0"/>
                        <a:t> Officer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Stefan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391451270"/>
                  </a:ext>
                </a:extLst>
              </a:tr>
              <a:tr h="232968">
                <a:tc>
                  <a:txBody>
                    <a:bodyPr/>
                    <a:lstStyle/>
                    <a:p>
                      <a:r>
                        <a:rPr lang="de-DE" sz="1000" dirty="0"/>
                        <a:t>Quality Evangelist</a:t>
                      </a:r>
                    </a:p>
                  </a:txBody>
                  <a:tcPr marL="48320" marR="48320" marT="24160" marB="24160"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Christian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64889586"/>
                  </a:ext>
                </a:extLst>
              </a:tr>
              <a:tr h="347330">
                <a:tc>
                  <a:txBody>
                    <a:bodyPr/>
                    <a:lstStyle/>
                    <a:p>
                      <a:r>
                        <a:rPr lang="de-DE" sz="1050" dirty="0"/>
                        <a:t>Sitzungsleitung und Protokollführung 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Dennis</a:t>
                      </a:r>
                    </a:p>
                    <a:p>
                      <a:r>
                        <a:rPr lang="de-CH" sz="1000" dirty="0"/>
                        <a:t>Julien</a:t>
                      </a:r>
                      <a:endParaRPr lang="de-DE" sz="1000" dirty="0"/>
                    </a:p>
                  </a:txBody>
                  <a:tcPr marL="48320" marR="48320" marT="24160" marB="24160"/>
                </a:tc>
                <a:extLst>
                  <a:ext uri="{0D108BD9-81ED-4DB2-BD59-A6C34878D82A}">
                    <a16:rowId xmlns:a16="http://schemas.microsoft.com/office/drawing/2014/main" val="104234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26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6BC4-B806-EA1A-BF0D-1185B063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15E03F7-38FB-E656-6649-C1E39F559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5FE4AC7-2D21-FD2C-65EB-FD5E51C6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- </a:t>
            </a:r>
            <a:r>
              <a:rPr lang="en-US" dirty="0" err="1"/>
              <a:t>Medcode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1E7020C-7F5C-2029-1979-EEDD9BFBCAE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533" y="1059582"/>
            <a:ext cx="8424468" cy="347641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A5BA021-41CA-1AA9-B2F4-4CEBA312FB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836F2DB-DD4F-0ECB-A0F3-3027CD3DD2A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D866F69-FF4B-EAA5-345C-BF6166606B9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3</a:t>
            </a:fld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F8CA73-2B70-5F49-8179-BED2E95B9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1059582"/>
            <a:ext cx="4832882" cy="375456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AC9D0C7-1E56-3A43-3074-F0806DA94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28126"/>
            <a:ext cx="6839744" cy="15424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AE0861E-0251-4CFF-F381-DF7492BC9E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0" y="1044000"/>
            <a:ext cx="6839744" cy="145007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3FB5FCF-8E35-F335-6283-3085494632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1" y="1059582"/>
            <a:ext cx="6839744" cy="280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98E1E-9EAD-481E-FC65-4856C62A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EECB0CB-4AD8-6CC7-BEF7-ABBCCAACD6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0D9CD8A-0D28-A6D2-8D33-BBAB78C7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Technologie-Stack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0E7D73B-19E6-129A-6A34-E21F1FCBD99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766" y="1085811"/>
            <a:ext cx="8424467" cy="3456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de-CH" dirty="0"/>
              <a:t>Befüllung per XML </a:t>
            </a:r>
            <a:r>
              <a:rPr lang="de-CH" dirty="0" err="1"/>
              <a:t>file</a:t>
            </a:r>
            <a:r>
              <a:rPr lang="de-CH" dirty="0"/>
              <a:t> von </a:t>
            </a:r>
            <a:r>
              <a:rPr lang="de-CH" dirty="0" err="1"/>
              <a:t>Medcode</a:t>
            </a:r>
            <a:r>
              <a:rPr lang="de-CH" dirty="0"/>
              <a:t> (ICD-Codes)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829027-E759-61E7-C599-BC9F46F06B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F9CA90-4539-D56A-FDE5-CDFDF43AA8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697A544-7F32-D063-D3DA-F189DB2CC4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4</a:t>
            </a:fld>
            <a:endParaRPr lang="de-CH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B4E4EAD-B054-1C47-DDC6-94F40ECCBC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6454785"/>
              </p:ext>
            </p:extLst>
          </p:nvPr>
        </p:nvGraphicFramePr>
        <p:xfrm>
          <a:off x="1464000" y="1085811"/>
          <a:ext cx="60960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80575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85354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Technologie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94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React &amp; Vite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3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 &amp; </a:t>
                      </a:r>
                      <a:r>
                        <a:rPr lang="de-DE" dirty="0" err="1"/>
                        <a:t>FastAPI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652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Datenbank /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PostgreSQL + </a:t>
                      </a:r>
                      <a:r>
                        <a:rPr lang="de-DE" dirty="0" err="1"/>
                        <a:t>pgvector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68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Volltextsuche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Meilisearch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71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KI-Modell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Google Gemini 2.5 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29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Embeddings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gemini-embedding-001</a:t>
                      </a:r>
                    </a:p>
                    <a:p>
                      <a:r>
                        <a:rPr lang="de-DE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sentence-transformers</a:t>
                      </a:r>
                      <a:endParaRPr lang="de-DE" sz="13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37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Containerisierung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399953"/>
                  </a:ext>
                </a:extLst>
              </a:tr>
            </a:tbl>
          </a:graphicData>
        </a:graphic>
      </p:graphicFrame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42A1024-D5DF-A904-A88A-ACBAD2872B7E}"/>
              </a:ext>
            </a:extLst>
          </p:cNvPr>
          <p:cNvCxnSpPr>
            <a:cxnSpLocks/>
          </p:cNvCxnSpPr>
          <p:nvPr/>
        </p:nvCxnSpPr>
        <p:spPr>
          <a:xfrm>
            <a:off x="5712282" y="2461527"/>
            <a:ext cx="67192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8F100E5-A9FD-982B-32AD-53D949497234}"/>
              </a:ext>
            </a:extLst>
          </p:cNvPr>
          <p:cNvCxnSpPr>
            <a:cxnSpLocks/>
          </p:cNvCxnSpPr>
          <p:nvPr/>
        </p:nvCxnSpPr>
        <p:spPr>
          <a:xfrm>
            <a:off x="4599909" y="2829518"/>
            <a:ext cx="864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64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C977-04D9-DACC-5E07-9C2792BAE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65D1525-D96F-0394-8BF0-3A81BB04B5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Technologien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806633A-A6D4-A4C6-A452-3610BBCD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DBEF217-0C9E-F694-1FEA-5DC6194AEA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766" y="1085811"/>
            <a:ext cx="8424467" cy="3456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DF7F56-E717-5829-F445-25E33F15A6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C60B7AE-C4CD-1BFC-36C3-14D6C70ADF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5363B37-94B8-D32E-C3BF-2841B04C49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5</a:t>
            </a:fld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12C34-08B0-5B92-1635-6438CC97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" r="1"/>
          <a:stretch>
            <a:fillRect/>
          </a:stretch>
        </p:blipFill>
        <p:spPr>
          <a:xfrm>
            <a:off x="251520" y="0"/>
            <a:ext cx="70936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2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D09A-0A34-6C76-C6F4-CE546E7D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BCEE623-B15D-5ED1-65ED-E4E96CF8F4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Allgemein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134B916-9DE7-6523-4245-75739D12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Sucharchitektur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689DD3CE-AFAB-5005-F8E2-8CF2E61036A1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000" dirty="0"/>
              <a:t>Search in 2 </a:t>
            </a:r>
            <a:r>
              <a:rPr lang="en-US" sz="2000" dirty="0" err="1"/>
              <a:t>Komponenten</a:t>
            </a:r>
            <a:r>
              <a:rPr lang="en-US" sz="2000" dirty="0"/>
              <a:t>: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1800" dirty="0" err="1"/>
              <a:t>Meilisearch</a:t>
            </a:r>
            <a:r>
              <a:rPr lang="en-US" sz="1800" dirty="0"/>
              <a:t>: Keyword-search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1800" dirty="0" err="1"/>
              <a:t>pgVector</a:t>
            </a:r>
            <a:r>
              <a:rPr lang="en-US" sz="1800" dirty="0"/>
              <a:t>: Vector-search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5C160A-F621-F29C-4106-096631C332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AB246BC-2809-B929-6844-A48E19571E6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99F185B-6D1D-7A39-DF41-8775258BB9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6</a:t>
            </a:fld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CE826D2-3E7D-9B75-0F8D-CD220E5E5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038011"/>
            <a:ext cx="173379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3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877-3EA1-ECB6-D5C1-9CC1F828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041F700-1376-1989-6266-EE713E75EB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FA76FE0-C1B9-93DF-297E-29B2AE16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Meilisearch</a:t>
            </a:r>
            <a:r>
              <a:rPr lang="de-DE" dirty="0"/>
              <a:t> – Funktionsweise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8D9EABB-774D-F5D8-15DE-23055E037908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 err="1"/>
              <a:t>OpenSource</a:t>
            </a:r>
            <a:endParaRPr lang="de-DE" dirty="0"/>
          </a:p>
          <a:p>
            <a:r>
              <a:rPr lang="de-DE" dirty="0"/>
              <a:t>Rust</a:t>
            </a:r>
          </a:p>
          <a:p>
            <a:r>
              <a:rPr lang="de-DE" dirty="0"/>
              <a:t>Eigener Service</a:t>
            </a:r>
          </a:p>
          <a:p>
            <a:endParaRPr lang="de-DE" dirty="0"/>
          </a:p>
          <a:p>
            <a:r>
              <a:rPr lang="de-DE" dirty="0"/>
              <a:t>Volltext-Suchmaschine basierend auf Index</a:t>
            </a:r>
          </a:p>
          <a:p>
            <a:r>
              <a:rPr lang="de-DE" dirty="0"/>
              <a:t>optimiert für schnelle Suchanfragen </a:t>
            </a:r>
          </a:p>
          <a:p>
            <a:r>
              <a:rPr lang="de-DE" dirty="0"/>
              <a:t>fehlertolerant (Typos)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Schneller und genauer </a:t>
            </a:r>
            <a:r>
              <a:rPr lang="de-DE" sz="2000" b="1" dirty="0"/>
              <a:t>aber</a:t>
            </a:r>
            <a:endParaRPr lang="de-DE" b="1" dirty="0"/>
          </a:p>
          <a:p>
            <a:pPr marL="0" indent="0">
              <a:buNone/>
            </a:pPr>
            <a:r>
              <a:rPr lang="de-DE" b="1" dirty="0"/>
              <a:t>Keine semantische Suche!</a:t>
            </a:r>
          </a:p>
          <a:p>
            <a:pPr marL="0" indent="0">
              <a:buNone/>
            </a:pPr>
            <a:endParaRPr lang="de-DE" sz="2200" b="1" dirty="0"/>
          </a:p>
          <a:p>
            <a:endParaRPr lang="de-DE" sz="22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C77D82A-1CCB-F4A2-A0C8-B4A998647B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9E5392D-0164-5C80-D7BC-E098E3AFF6E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D4ABB4B-0691-3C5C-F8E8-66DEDF56DA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370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4831-766B-D377-9D2A-4CCA8ED0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EF370A4-A65C-33AF-B5D2-4649570251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B676E64-7539-DBFC-A0A8-670431BF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Semantische Suche mit </a:t>
            </a:r>
            <a:r>
              <a:rPr lang="de-DE" b="1" dirty="0" err="1"/>
              <a:t>pgvector</a:t>
            </a:r>
            <a:r>
              <a:rPr lang="de-DE" dirty="0"/>
              <a:t> 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A1A5E6A-020E-83CB-1725-947FD9ACA199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de-DE" dirty="0"/>
              <a:t>Erweiterung für PostgreSQL </a:t>
            </a:r>
          </a:p>
          <a:p>
            <a:r>
              <a:rPr lang="de-DE" dirty="0"/>
              <a:t>speichert Vektoren (</a:t>
            </a:r>
            <a:r>
              <a:rPr lang="de-DE" dirty="0" err="1"/>
              <a:t>Embeddings</a:t>
            </a:r>
            <a:r>
              <a:rPr lang="de-DE" dirty="0"/>
              <a:t>) </a:t>
            </a:r>
          </a:p>
          <a:p>
            <a:r>
              <a:rPr lang="de-DE" dirty="0"/>
              <a:t>ermöglicht Ähnlichkeitssuche</a:t>
            </a:r>
          </a:p>
          <a:p>
            <a:pPr lvl="1"/>
            <a:r>
              <a:rPr lang="de-DE" altLang="de-DE" dirty="0">
                <a:latin typeface="Arial" panose="020B0604020202020204" pitchFamily="34" charset="0"/>
              </a:rPr>
              <a:t>(z.B. </a:t>
            </a:r>
            <a:r>
              <a:rPr lang="de-DE" altLang="de-DE" dirty="0" err="1">
                <a:latin typeface="Arial" panose="020B0604020202020204" pitchFamily="34" charset="0"/>
              </a:rPr>
              <a:t>Cosine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Similarity</a:t>
            </a:r>
            <a:r>
              <a:rPr lang="de-DE" altLang="de-DE" dirty="0">
                <a:latin typeface="Arial" panose="020B0604020202020204" pitchFamily="34" charset="0"/>
              </a:rPr>
              <a:t>)</a:t>
            </a:r>
          </a:p>
          <a:p>
            <a:pPr lvl="1"/>
            <a:r>
              <a:rPr lang="de-DE" dirty="0"/>
              <a:t>versteht Bedeutung (Semantik)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AA6F36C-734F-34F4-BD2F-F4CFAE430C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86BF09D-FBEB-30DF-6BF1-6C74F342A37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19434A3-B80B-01BA-1796-E5E09F2C62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8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33B7D7-F3EE-543C-0FB0-726229242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387853"/>
            <a:ext cx="4395282" cy="142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967D-4097-4E1F-A75B-F053C6318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B6362D6-CF12-7377-26C4-D48D76948F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Allgemein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ED81A6D-73E1-E1E2-3BA4-FB72C735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Sucharchitektur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281E190-D13A-C165-2ED6-F9DE36F0E721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000" dirty="0"/>
              <a:t>Search in 2 </a:t>
            </a:r>
            <a:r>
              <a:rPr lang="en-US" sz="2000" dirty="0" err="1"/>
              <a:t>Komponenten</a:t>
            </a:r>
            <a:r>
              <a:rPr lang="en-US" sz="2000" dirty="0"/>
              <a:t>: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1800" dirty="0" err="1"/>
              <a:t>Meilisearch</a:t>
            </a:r>
            <a:r>
              <a:rPr lang="en-US" sz="1800" dirty="0"/>
              <a:t>: Keyword-search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1800" dirty="0" err="1"/>
              <a:t>pgVector</a:t>
            </a:r>
            <a:r>
              <a:rPr lang="en-US" sz="1800" dirty="0"/>
              <a:t>: Vector-search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96CD9AB-FC45-7CC8-2F74-A759A4BACF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AC2DB34-CC6B-0BEA-566A-D17CFBB0E4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1C15293-6A0F-B742-AC4C-59E6546D8D8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9</a:t>
            </a:fld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97DDE84-DBB4-8B63-0D9F-E59566525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038011"/>
            <a:ext cx="173379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4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FF96-9807-FBF5-6D4B-5A475FE7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1BA0DFA-F19B-A372-E6F4-F05B06915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Seriell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BCCEC00-336D-7D4F-D741-4A487B7E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Sucharchitektur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6B45C91-AD2D-4BA3-3C04-CB830FEDFD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53BFAA2-0CCE-5271-022C-4EE082B615F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F7AA617-7334-5895-E539-4BE817F5C6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10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DEFCF82-6C07-FA07-7D60-00C5F6C67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69581"/>
            <a:ext cx="4824536" cy="473395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615622C-465B-97AF-02EC-02267AD3437D}"/>
              </a:ext>
            </a:extLst>
          </p:cNvPr>
          <p:cNvSpPr txBox="1"/>
          <p:nvPr/>
        </p:nvSpPr>
        <p:spPr>
          <a:xfrm>
            <a:off x="5076056" y="234400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highlight>
                  <a:srgbClr val="FFFF00"/>
                </a:highlight>
              </a:rPr>
              <a:t>Gemini</a:t>
            </a:r>
            <a:endParaRPr lang="de-D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6946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8E97-9621-A057-D368-F675AB9A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CD6A932-FCEF-C280-87F7-91CBC78E4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89220"/>
            <a:ext cx="4464496" cy="4999307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51CF6AB-BB00-0D08-4A88-B4C668AE83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Parallel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1095004-A0D6-8829-93A8-7467DE3D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Sucharchitektur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72E4F40-AA38-8597-4971-84FFCADABCB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de-DE" dirty="0"/>
              <a:t>score = </a:t>
            </a:r>
            <a:r>
              <a:rPr lang="el-GR" dirty="0"/>
              <a:t>α * </a:t>
            </a:r>
            <a:r>
              <a:rPr lang="de-DE" dirty="0" err="1"/>
              <a:t>Meilisearch</a:t>
            </a:r>
            <a:r>
              <a:rPr lang="de-DE" dirty="0"/>
              <a:t> + </a:t>
            </a:r>
            <a:r>
              <a:rPr lang="el-GR" dirty="0"/>
              <a:t>β * </a:t>
            </a:r>
            <a:r>
              <a:rPr lang="de-DE" dirty="0" err="1"/>
              <a:t>pgvector</a:t>
            </a:r>
            <a:endParaRPr lang="de-DE" dirty="0"/>
          </a:p>
          <a:p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8A4B3EE-4990-6A6F-F106-47591B218D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7D90B77-631B-8CEC-85A4-D4E983DF98A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86841C5-9B3E-8301-835F-7AB18D42A0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0863FB1-788F-198F-5919-1784B4D6C004}"/>
              </a:ext>
            </a:extLst>
          </p:cNvPr>
          <p:cNvSpPr txBox="1"/>
          <p:nvPr/>
        </p:nvSpPr>
        <p:spPr>
          <a:xfrm>
            <a:off x="6295420" y="1635646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>
                <a:highlight>
                  <a:srgbClr val="FFFF00"/>
                </a:highlight>
              </a:rPr>
              <a:t>Local</a:t>
            </a:r>
            <a:r>
              <a:rPr lang="de-CH" dirty="0"/>
              <a:t> </a:t>
            </a:r>
            <a:r>
              <a:rPr lang="de-CH" sz="1400" dirty="0"/>
              <a:t>(</a:t>
            </a:r>
            <a:r>
              <a:rPr lang="de-CH" sz="1400" dirty="0" err="1"/>
              <a:t>sentence-transformers</a:t>
            </a:r>
            <a:r>
              <a:rPr lang="de-CH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2345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0A2B-FD7F-ABB1-1501-04AA3853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E67942-DEA3-79A4-EEF7-212069A455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Seriell</a:t>
            </a:r>
            <a:r>
              <a:rPr lang="en-US" dirty="0"/>
              <a:t> vs Parallel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E16C0C1-EFC0-3938-8FD4-C9274332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Fazit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61237D86-EF28-9799-15A8-F1E8A67DED63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Noch </a:t>
            </a:r>
            <a:r>
              <a:rPr lang="en-US" sz="2400" dirty="0" err="1"/>
              <a:t>offen</a:t>
            </a:r>
            <a:r>
              <a:rPr lang="en-US" sz="2400" dirty="0"/>
              <a:t>!</a:t>
            </a:r>
          </a:p>
          <a:p>
            <a:pPr lvl="1"/>
            <a:r>
              <a:rPr lang="en-US" sz="2000" dirty="0"/>
              <a:t>Testing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4E37AC-7F03-DE12-D431-65CED3E275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F6691F1-8429-E509-8E3B-918BB93AD86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74A9C8D-637B-349B-1BAD-F8F42E7C66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12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9172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5508-ED37-1715-170F-B793BB17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067CE97-E8F4-9619-7281-EDD823DF16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Technologien</a:t>
            </a:r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AD94DE6-80C4-F600-A56C-ECA49BC1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Technologie-Stack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6E1B266-442F-C8DC-24A1-C0AF5F043B3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59766" y="1085811"/>
            <a:ext cx="8424467" cy="3456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de-CH" dirty="0"/>
              <a:t>Befüllung per XML </a:t>
            </a:r>
            <a:r>
              <a:rPr lang="de-CH" dirty="0" err="1"/>
              <a:t>file</a:t>
            </a:r>
            <a:r>
              <a:rPr lang="de-CH" dirty="0"/>
              <a:t> von </a:t>
            </a:r>
            <a:r>
              <a:rPr lang="de-CH" dirty="0" err="1"/>
              <a:t>Medcode</a:t>
            </a:r>
            <a:r>
              <a:rPr lang="de-CH" dirty="0"/>
              <a:t> (ICD-Codes)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A730ECA-15E0-3733-52E1-956EEE9494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4B2C2EA-B2B7-5488-8C9E-FDFAD096D3F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6C6532C-75BC-9575-7211-4A0410F8AE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13</a:t>
            </a:fld>
            <a:endParaRPr lang="de-CH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15EF349-8C46-3E2B-79F6-6FD166D6DD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054216"/>
              </p:ext>
            </p:extLst>
          </p:nvPr>
        </p:nvGraphicFramePr>
        <p:xfrm>
          <a:off x="1464000" y="1085811"/>
          <a:ext cx="60960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80575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85354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Technologie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94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React &amp; Vite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3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Python &amp; </a:t>
                      </a:r>
                      <a:r>
                        <a:rPr lang="de-DE" dirty="0" err="1"/>
                        <a:t>FastAPI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652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Datenbank /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PostgreSQL + </a:t>
                      </a:r>
                      <a:r>
                        <a:rPr lang="de-DE" dirty="0" err="1"/>
                        <a:t>pgvector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68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Volltextsuche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Meilisearch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71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KI-Modell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Google Gemini 2.5 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29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Embeddings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gemini-embedding-001</a:t>
                      </a:r>
                    </a:p>
                    <a:p>
                      <a:r>
                        <a:rPr lang="de-DE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sentence-transformers</a:t>
                      </a:r>
                      <a:endParaRPr lang="de-DE" sz="13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37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Containerisierung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399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69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E371-3CA3-35F4-676D-2ABC1774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995DCE-7320-5E4E-613E-193A82A2AA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691C124-64C5-9EC2-B12F-EF80C2D8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Fragen</a:t>
            </a:r>
            <a:endParaRPr lang="en-US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FA1BAC7-9E20-2782-11B0-AE86D068F7C1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Danke für </a:t>
            </a:r>
            <a:r>
              <a:rPr lang="en-US" sz="2000" dirty="0" err="1"/>
              <a:t>eure</a:t>
            </a:r>
            <a:r>
              <a:rPr lang="en-US" sz="2000" dirty="0"/>
              <a:t> </a:t>
            </a:r>
            <a:r>
              <a:rPr lang="en-US" sz="2000" dirty="0" err="1"/>
              <a:t>Aufmerksamkeit</a:t>
            </a:r>
            <a:r>
              <a:rPr lang="en-US" sz="2000" dirty="0"/>
              <a:t>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0D4218-52B8-4CF9-A8F0-3039342041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1D3BB873-2426-0D9E-6E50-33530DD9C7B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B2E7692-4FEB-59DA-BB87-A8478BE1A63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14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4276089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220B11A5-9FBE-4BE8-88F7-F6586911FCB9}"/>
    </a:ext>
  </a:extLst>
</a:theme>
</file>

<file path=ppt/theme/theme2.xml><?xml version="1.0" encoding="utf-8"?>
<a:theme xmlns:a="http://schemas.openxmlformats.org/drawingml/2006/main" name="1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B4599F3B-7FCE-492B-8B3D-887A710F2678}"/>
    </a:ext>
  </a:extLst>
</a:theme>
</file>

<file path=ppt/theme/theme3.xml><?xml version="1.0" encoding="utf-8"?>
<a:theme xmlns:a="http://schemas.openxmlformats.org/drawingml/2006/main" name="End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4527320C-C198-40CD-B0BF-F9ABCAA7BE5F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UniBE - Vorlage Praesentationen</Template>
  <TotalTime>0</TotalTime>
  <Words>519</Words>
  <Application>Microsoft Office PowerPoint</Application>
  <PresentationFormat>Bildschirmpräsentation (16:9)</PresentationFormat>
  <Paragraphs>198</Paragraphs>
  <Slides>14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Calibri</vt:lpstr>
      <vt:lpstr>Symbol</vt:lpstr>
      <vt:lpstr>3_Office</vt:lpstr>
      <vt:lpstr>1_Office</vt:lpstr>
      <vt:lpstr>Ende</vt:lpstr>
      <vt:lpstr>PSE Präsentation</vt:lpstr>
      <vt:lpstr>Projekt - Medcode</vt:lpstr>
      <vt:lpstr>Projekt - Medcode</vt:lpstr>
      <vt:lpstr>Technologie-Stack</vt:lpstr>
      <vt:lpstr>Overhead</vt:lpstr>
      <vt:lpstr>Sucharchitektur</vt:lpstr>
      <vt:lpstr>Meilisearch – Funktionsweise</vt:lpstr>
      <vt:lpstr>Semantische Suche mit pgvector </vt:lpstr>
      <vt:lpstr>Sucharchitektur</vt:lpstr>
      <vt:lpstr>Sucharchitektur</vt:lpstr>
      <vt:lpstr>Sucharchitektur</vt:lpstr>
      <vt:lpstr>Fazit</vt:lpstr>
      <vt:lpstr>Technologie-Stack</vt:lpstr>
      <vt:lpstr>Fragen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Scholl, André (IWI)</dc:creator>
  <cp:lastModifiedBy>Julien CHOPIN</cp:lastModifiedBy>
  <cp:revision>32</cp:revision>
  <dcterms:created xsi:type="dcterms:W3CDTF">2021-06-29T15:00:13Z</dcterms:created>
  <dcterms:modified xsi:type="dcterms:W3CDTF">2026-04-22T11:29:15Z</dcterms:modified>
</cp:coreProperties>
</file>